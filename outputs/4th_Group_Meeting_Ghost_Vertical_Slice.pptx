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217a3d4184a3a" /><Relationship Type="http://schemas.openxmlformats.org/officeDocument/2006/relationships/extended-properties" Target="/docProps/app.xml" Id="R1777381e8b65437f" /><Relationship Type="http://schemas.openxmlformats.org/officeDocument/2006/relationships/officeDocument" Target="/ppt/presentation.xml" Id="Rfc909515716f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da35adf8c433b"/>
  </p:sldMasterIdLst>
  <p:notesMasterIdLst>
    <p:notesMasterId xmlns:r="http://schemas.openxmlformats.org/officeDocument/2006/relationships" r:id="Rafa578a69820422e"/>
  </p:notesMasterIdLst>
  <p:sldIdLst>
    <p:sldId xmlns:r="http://schemas.openxmlformats.org/officeDocument/2006/relationships" id="256" r:id="R24b135c770234fac"/>
    <p:sldId xmlns:r="http://schemas.openxmlformats.org/officeDocument/2006/relationships" id="257" r:id="R1ed566b3a4284d25"/>
    <p:sldId xmlns:r="http://schemas.openxmlformats.org/officeDocument/2006/relationships" id="258" r:id="Rd2d04d047d9545e0"/>
    <p:sldId xmlns:r="http://schemas.openxmlformats.org/officeDocument/2006/relationships" id="259" r:id="R1a63338eacc641e8"/>
    <p:sldId xmlns:r="http://schemas.openxmlformats.org/officeDocument/2006/relationships" id="260" r:id="R28968e6b6e0244c9"/>
    <p:sldId xmlns:r="http://schemas.openxmlformats.org/officeDocument/2006/relationships" id="261" r:id="R1c431070eb2e463b"/>
    <p:sldId xmlns:r="http://schemas.openxmlformats.org/officeDocument/2006/relationships" id="262" r:id="Reea153a826714bdc"/>
    <p:sldId xmlns:r="http://schemas.openxmlformats.org/officeDocument/2006/relationships" id="263" r:id="R80611fdbb73541a0"/>
    <p:sldId xmlns:r="http://schemas.openxmlformats.org/officeDocument/2006/relationships" id="264" r:id="Rdfd4e7b619b54b9c"/>
    <p:sldId xmlns:r="http://schemas.openxmlformats.org/officeDocument/2006/relationships" id="265" r:id="R37815cda7c7a44ef"/>
    <p:sldId xmlns:r="http://schemas.openxmlformats.org/officeDocument/2006/relationships" id="266" r:id="Re20588275ed54c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80d2f9ec24c33" /><Relationship Type="http://schemas.openxmlformats.org/officeDocument/2006/relationships/slideMaster" Target="/ppt/slideMasters/slideMaster1.xml" Id="R8efda35adf8c433b" /><Relationship Type="http://schemas.openxmlformats.org/officeDocument/2006/relationships/notesMaster" Target="/ppt/notesMasters/notesMaster1.xml" Id="Rafa578a69820422e" /><Relationship Type="http://schemas.openxmlformats.org/officeDocument/2006/relationships/presProps" Target="/ppt/presProps.xml" Id="R12ad98ebbbba4a39" /><Relationship Type="http://schemas.openxmlformats.org/officeDocument/2006/relationships/tableStyles" Target="/ppt/tableStyles.xml" Id="Rc3dd2fa0a0734b06" /><Relationship Type="http://schemas.openxmlformats.org/officeDocument/2006/relationships/slide" Target="/ppt/slides/slide1.xml" Id="R24b135c770234fac" /><Relationship Type="http://schemas.openxmlformats.org/officeDocument/2006/relationships/slide" Target="/ppt/slides/slide2.xml" Id="R1ed566b3a4284d25" /><Relationship Type="http://schemas.openxmlformats.org/officeDocument/2006/relationships/slide" Target="/ppt/slides/slide3.xml" Id="Rd2d04d047d9545e0" /><Relationship Type="http://schemas.openxmlformats.org/officeDocument/2006/relationships/slide" Target="/ppt/slides/slide4.xml" Id="R1a63338eacc641e8" /><Relationship Type="http://schemas.openxmlformats.org/officeDocument/2006/relationships/slide" Target="/ppt/slides/slide5.xml" Id="R28968e6b6e0244c9" /><Relationship Type="http://schemas.openxmlformats.org/officeDocument/2006/relationships/slide" Target="/ppt/slides/slide6.xml" Id="R1c431070eb2e463b" /><Relationship Type="http://schemas.openxmlformats.org/officeDocument/2006/relationships/slide" Target="/ppt/slides/slide7.xml" Id="Reea153a826714bdc" /><Relationship Type="http://schemas.openxmlformats.org/officeDocument/2006/relationships/slide" Target="/ppt/slides/slide8.xml" Id="R80611fdbb73541a0" /><Relationship Type="http://schemas.openxmlformats.org/officeDocument/2006/relationships/slide" Target="/ppt/slides/slide9.xml" Id="Rdfd4e7b619b54b9c" /><Relationship Type="http://schemas.openxmlformats.org/officeDocument/2006/relationships/slide" Target="/ppt/slides/slide10.xml" Id="R37815cda7c7a44ef" /><Relationship Type="http://schemas.openxmlformats.org/officeDocument/2006/relationships/slide" Target="/ppt/slides/slide11.xml" Id="Re20588275ed5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c1ff0b5ec40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fdc899be84893" /><Relationship Type="http://schemas.openxmlformats.org/officeDocument/2006/relationships/notesMaster" Target="/ppt/notesMasters/notesMaster1.xml" Id="R908846d4f9d248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3826c248b45e8" /><Relationship Type="http://schemas.openxmlformats.org/officeDocument/2006/relationships/notesMaster" Target="/ppt/notesMasters/notesMaster1.xml" Id="Rfedd8e5dc49147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29e89f59b42ef" /><Relationship Type="http://schemas.openxmlformats.org/officeDocument/2006/relationships/notesMaster" Target="/ppt/notesMasters/notesMaster1.xml" Id="R6d96e5bbd42a4c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1bf9beb8745ed" /><Relationship Type="http://schemas.openxmlformats.org/officeDocument/2006/relationships/notesMaster" Target="/ppt/notesMasters/notesMaster1.xml" Id="R5d62ee470d88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6dbf7544a4ca5" /><Relationship Type="http://schemas.openxmlformats.org/officeDocument/2006/relationships/notesMaster" Target="/ppt/notesMasters/notesMaster1.xml" Id="R260ad44795a34e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fa6e38ffa4a69" /><Relationship Type="http://schemas.openxmlformats.org/officeDocument/2006/relationships/notesMaster" Target="/ppt/notesMasters/notesMaster1.xml" Id="R636e70c6ab34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98f9a15024464" /><Relationship Type="http://schemas.openxmlformats.org/officeDocument/2006/relationships/notesMaster" Target="/ppt/notesMasters/notesMaster1.xml" Id="R9c405d8bb2eb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5d6f0198014475" /><Relationship Type="http://schemas.openxmlformats.org/officeDocument/2006/relationships/notesMaster" Target="/ppt/notesMasters/notesMaster1.xml" Id="Rafac05cdd33443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0af59814b64f00" /><Relationship Type="http://schemas.openxmlformats.org/officeDocument/2006/relationships/notesMaster" Target="/ppt/notesMasters/notesMaster1.xml" Id="R70f3d913c60846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bf65cd5681471e" /><Relationship Type="http://schemas.openxmlformats.org/officeDocument/2006/relationships/notesMaster" Target="/ppt/notesMasters/notesMaster1.xml" Id="R1316337e8b384b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80635ccc644b8f" /><Relationship Type="http://schemas.openxmlformats.org/officeDocument/2006/relationships/notesMaster" Target="/ppt/notesMasters/notesMaster1.xml" Id="R678170059cf0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81fdb552d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eb0ce2ab114120" /><Relationship Type="http://schemas.openxmlformats.org/officeDocument/2006/relationships/slideLayout" Target="/ppt/slideLayouts/slideLayout1.xml" Id="R5349b4fc6f26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49b4fc6f26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a45956db4251" /><Relationship Type="http://schemas.openxmlformats.org/officeDocument/2006/relationships/notesSlide" Target="/ppt/notesSlides/notesSlide1.xml" Id="Rdb77442aefbf43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02cdf3b7d4389" /><Relationship Type="http://schemas.openxmlformats.org/officeDocument/2006/relationships/notesSlide" Target="/ppt/notesSlides/notesSlide2.xml" Id="R0959cd56ebf6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02fa76f84872" /><Relationship Type="http://schemas.openxmlformats.org/officeDocument/2006/relationships/notesSlide" Target="/ppt/notesSlides/notesSlide3.xml" Id="R98434f8b7def4b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299b67546469c" /><Relationship Type="http://schemas.openxmlformats.org/officeDocument/2006/relationships/notesSlide" Target="/ppt/notesSlides/notesSlide4.xml" Id="Rf49e84ae90464a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81d6bb3434b58" /><Relationship Type="http://schemas.openxmlformats.org/officeDocument/2006/relationships/notesSlide" Target="/ppt/notesSlides/notesSlide5.xml" Id="Rca9cf3ea82f7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59e726409447d" /><Relationship Type="http://schemas.openxmlformats.org/officeDocument/2006/relationships/notesSlide" Target="/ppt/notesSlides/notesSlide6.xml" Id="R80b3320dd446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9ce4f4aa4718" /><Relationship Type="http://schemas.openxmlformats.org/officeDocument/2006/relationships/notesSlide" Target="/ppt/notesSlides/notesSlide7.xml" Id="Rf310e72cca7945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a2b8740924bd1" /><Relationship Type="http://schemas.openxmlformats.org/officeDocument/2006/relationships/notesSlide" Target="/ppt/notesSlides/notesSlide8.xml" Id="R2679efe6eb7441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23d22c6594bd3" /><Relationship Type="http://schemas.openxmlformats.org/officeDocument/2006/relationships/notesSlide" Target="/ppt/notesSlides/notesSlide9.xml" Id="Ra8f8d7d4d4af43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fd7b739d44311" /><Relationship Type="http://schemas.openxmlformats.org/officeDocument/2006/relationships/notesSlide" Target="/ppt/notesSlides/notesSlide10.xml" Id="Re30cb8d9ee98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f1ef0de5042ea" /><Relationship Type="http://schemas.openxmlformats.org/officeDocument/2006/relationships/notesSlide" Target="/ppt/notesSlides/notesSlide11.xml" Id="R255f312fcf45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band">
            <a:extLst xmlns:a="http://schemas.openxmlformats.org/drawingml/2006/main">
              <a:ext uri="{FF2B5EF4-FFF2-40B4-BE49-F238E27FC236}">
                <a16:creationId xmlns:a16="http://schemas.microsoft.com/office/drawing/2014/main" id="{01DBD985-0746-41F1-9889-84EC9EB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1430">
            <a:solidFill>
              <a:srgbClr val="F7F4EF"/>
            </a:solidFill>
            <a:prstDash val="solid"/>
          </a:ln>
        </p:spPr>
      </p:sp>
      <p:sp>
        <p:nvSpPr>
          <p:cNvPr id="2" name="hero-accent">
            <a:extLst xmlns:a="http://schemas.openxmlformats.org/drawingml/2006/main">
              <a:ext uri="{FF2B5EF4-FFF2-40B4-BE49-F238E27FC236}">
                <a16:creationId xmlns:a16="http://schemas.microsoft.com/office/drawing/2014/main" id="{4FA7DB05-F8E2-4FF1-A4BA-D3077C3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D84D10FF-F79C-44FD-B491-C612A78E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8243B"/>
                </a:solidFill>
              </a:defRPr>
            </a:pPr>
            <a:r>
              <a:rPr sz="4350" b="1" i="0">
                <a:solidFill>
                  <a:srgbClr val="18243B"/>
                </a:solidFill>
              </a:rPr>
              <a:t>Ghost</a:t>
            </a:r>
          </a:p>
        </p:txBody>
      </p:sp>
      <p:sp>
        <p:nvSpPr>
          <p:cNvPr id="4" name="title-sub">
            <a:extLst xmlns:a="http://schemas.openxmlformats.org/drawingml/2006/main">
              <a:ext uri="{FF2B5EF4-FFF2-40B4-BE49-F238E27FC236}">
                <a16:creationId xmlns:a16="http://schemas.microsoft.com/office/drawing/2014/main" id="{40C1EACF-D526-485C-870D-3F2FA09E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8243B"/>
                </a:solidFill>
              </a:defRPr>
            </a:pPr>
            <a:r>
              <a:rPr sz="2100" b="0" i="0">
                <a:solidFill>
                  <a:srgbClr val="18243B"/>
                </a:solidFill>
              </a:rPr>
              <a:t>Narrative Puzzle Game for Chatbot/NLP Learning</a:t>
            </a:r>
          </a:p>
        </p:txBody>
      </p:sp>
      <p:sp>
        <p:nvSpPr>
          <p:cNvPr id="5" name="title-meeting">
            <a:extLst xmlns:a="http://schemas.openxmlformats.org/drawingml/2006/main">
              <a:ext uri="{FF2B5EF4-FFF2-40B4-BE49-F238E27FC236}">
                <a16:creationId xmlns:a16="http://schemas.microsoft.com/office/drawing/2014/main" id="{9492F4B3-BCD4-4990-A53A-E82A606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4th Group Meeting · MSc Advanced Computing · King's College London</a:t>
            </a:r>
          </a:p>
        </p:txBody>
      </p:sp>
      <p:sp>
        <p:nvSpPr>
          <p:cNvPr id="6" name="title-name">
            <a:extLst xmlns:a="http://schemas.openxmlformats.org/drawingml/2006/main">
              <a:ext uri="{FF2B5EF4-FFF2-40B4-BE49-F238E27FC236}">
                <a16:creationId xmlns:a16="http://schemas.microsoft.com/office/drawing/2014/main" id="{3320C879-693B-432E-9460-36B21E8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Chao-Yang Tang</a:t>
            </a:r>
          </a:p>
        </p:txBody>
      </p:sp>
      <p:sp>
        <p:nvSpPr>
          <p:cNvPr id="7" name="ghost-marker">
            <a:extLst xmlns:a="http://schemas.openxmlformats.org/drawingml/2006/main">
              <a:ext uri="{FF2B5EF4-FFF2-40B4-BE49-F238E27FC236}">
                <a16:creationId xmlns:a16="http://schemas.microsoft.com/office/drawing/2014/main" id="{585125A6-7762-4050-B874-B124C45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8" name="ghost-word">
            <a:extLst xmlns:a="http://schemas.openxmlformats.org/drawingml/2006/main">
              <a:ext uri="{FF2B5EF4-FFF2-40B4-BE49-F238E27FC236}">
                <a16:creationId xmlns:a16="http://schemas.microsoft.com/office/drawing/2014/main" id="{DAC7A79B-86ED-4C0D-AAF1-09A15CE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4769D8"/>
                </a:solidFill>
              </a:defRPr>
            </a:pPr>
            <a:r>
              <a:rPr sz="3000" b="1" i="0">
                <a:solidFill>
                  <a:srgbClr val="4769D8"/>
                </a:solidFill>
              </a:rPr>
              <a:t>Ghost</a:t>
            </a:r>
          </a:p>
        </p:txBody>
      </p:sp>
      <p:sp>
        <p:nvSpPr>
          <p:cNvPr id="9" name="ghost-caption">
            <a:extLst xmlns:a="http://schemas.openxmlformats.org/drawingml/2006/main">
              <a:ext uri="{FF2B5EF4-FFF2-40B4-BE49-F238E27FC236}">
                <a16:creationId xmlns:a16="http://schemas.microsoft.com/office/drawing/2014/main" id="{8031566F-39D3-4FCD-A678-B151619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playable vertical slice demo</a:t>
            </a:r>
          </a:p>
        </p:txBody>
      </p:sp>
      <p:sp>
        <p:nvSpPr>
          <p:cNvPr id="10" name="status-chip-bg">
            <a:extLst xmlns:a="http://schemas.openxmlformats.org/drawingml/2006/main">
              <a:ext uri="{FF2B5EF4-FFF2-40B4-BE49-F238E27FC236}">
                <a16:creationId xmlns:a16="http://schemas.microsoft.com/office/drawing/2014/main" id="{1DAC381D-9027-498A-97CE-8D6561FB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8765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7DC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11" name="status-chip">
            <a:extLst xmlns:a="http://schemas.openxmlformats.org/drawingml/2006/main">
              <a:ext uri="{FF2B5EF4-FFF2-40B4-BE49-F238E27FC236}">
                <a16:creationId xmlns:a16="http://schemas.microsoft.com/office/drawing/2014/main" id="{6927029B-1BBF-4249-82A4-453C6E7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Acts 1–3 + backend foundation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3D348DE7-A639-4AFF-8ABD-E82028C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13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1C8B390D-A309-499D-99AA-D399C85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6347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CDA5E98-CBBF-43F8-839C-DFBC8F4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993DDD-C6F9-4D0D-942D-7ABD366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Previous Direction → Current Focus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9D21BF-5823-4BDB-A62A-61A28964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prev-card">
            <a:extLst xmlns:a="http://schemas.openxmlformats.org/drawingml/2006/main">
              <a:ext uri="{FF2B5EF4-FFF2-40B4-BE49-F238E27FC236}">
                <a16:creationId xmlns:a16="http://schemas.microsoft.com/office/drawing/2014/main" id="{8D1DBB25-3C35-46C5-9D80-3F1F9F5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prev-accent">
            <a:extLst xmlns:a="http://schemas.openxmlformats.org/drawingml/2006/main">
              <a:ext uri="{FF2B5EF4-FFF2-40B4-BE49-F238E27FC236}">
                <a16:creationId xmlns:a16="http://schemas.microsoft.com/office/drawing/2014/main" id="{BBC73195-309C-4A09-845E-2DB82A9B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F7"/>
          </a:solidFill>
          <a:ln xmlns:a="http://schemas.openxmlformats.org/drawingml/2006/main" w="11430">
            <a:solidFill>
              <a:srgbClr val="E5DDF7"/>
            </a:solidFill>
            <a:prstDash val="solid"/>
          </a:ln>
        </p:spPr>
      </p:sp>
      <p:sp>
        <p:nvSpPr>
          <p:cNvPr id="6" name="prev-heading">
            <a:extLst xmlns:a="http://schemas.openxmlformats.org/drawingml/2006/main">
              <a:ext uri="{FF2B5EF4-FFF2-40B4-BE49-F238E27FC236}">
                <a16:creationId xmlns:a16="http://schemas.microsoft.com/office/drawing/2014/main" id="{CFDB17BC-BD62-423F-B24A-A723443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Earlier framing</a:t>
            </a:r>
          </a:p>
        </p:txBody>
      </p:sp>
      <p:sp>
        <p:nvSpPr>
          <p:cNvPr id="7" name="prev-body">
            <a:extLst xmlns:a="http://schemas.openxmlformats.org/drawingml/2006/main">
              <a:ext uri="{FF2B5EF4-FFF2-40B4-BE49-F238E27FC236}">
                <a16:creationId xmlns:a16="http://schemas.microsoft.com/office/drawing/2014/main" id="{925D9C21-61A7-4FD2-9907-1B22DC4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00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A broad educational game concept for chatbot and NLP concepts, with multiple possible Acts and system layers.</a:t>
            </a:r>
          </a:p>
        </p:txBody>
      </p:sp>
      <p:sp>
        <p:nvSpPr>
          <p:cNvPr id="8" name="confirmed-card">
            <a:extLst xmlns:a="http://schemas.openxmlformats.org/drawingml/2006/main">
              <a:ext uri="{FF2B5EF4-FFF2-40B4-BE49-F238E27FC236}">
                <a16:creationId xmlns:a16="http://schemas.microsoft.com/office/drawing/2014/main" id="{2787A5A5-A453-4FE9-8E27-EDD9EB5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432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9" name="confirmed-accent">
            <a:extLst xmlns:a="http://schemas.openxmlformats.org/drawingml/2006/main">
              <a:ext uri="{FF2B5EF4-FFF2-40B4-BE49-F238E27FC236}">
                <a16:creationId xmlns:a16="http://schemas.microsoft.com/office/drawing/2014/main" id="{CA0DA937-110E-4BF8-AD21-25A32CE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EAF1FF"/>
            </a:solidFill>
            <a:prstDash val="solid"/>
          </a:ln>
        </p:spPr>
      </p:sp>
      <p:sp>
        <p:nvSpPr>
          <p:cNvPr id="10" name="confirmed-heading">
            <a:extLst xmlns:a="http://schemas.openxmlformats.org/drawingml/2006/main">
              <a:ext uri="{FF2B5EF4-FFF2-40B4-BE49-F238E27FC236}">
                <a16:creationId xmlns:a16="http://schemas.microsoft.com/office/drawing/2014/main" id="{60A6C7BF-87AA-4D70-905C-15B5050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52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Confirmed identity</a:t>
            </a:r>
          </a:p>
        </p:txBody>
      </p:sp>
      <p:sp>
        <p:nvSpPr>
          <p:cNvPr id="11" name="confirmed-body">
            <a:extLst xmlns:a="http://schemas.openxmlformats.org/drawingml/2006/main">
              <a:ext uri="{FF2B5EF4-FFF2-40B4-BE49-F238E27FC236}">
                <a16:creationId xmlns:a16="http://schemas.microsoft.com/office/drawing/2014/main" id="{0918C3A7-B9FD-4A22-9B83-E3BD92D4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800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Ghost is the cute supernatural character, not a literal AI assistant. Lily guides the player as a lab senior.</a:t>
            </a:r>
          </a:p>
        </p:txBody>
      </p:sp>
      <p:sp>
        <p:nvSpPr>
          <p:cNvPr id="12" name="focus-card">
            <a:extLst xmlns:a="http://schemas.openxmlformats.org/drawingml/2006/main">
              <a:ext uri="{FF2B5EF4-FFF2-40B4-BE49-F238E27FC236}">
                <a16:creationId xmlns:a16="http://schemas.microsoft.com/office/drawing/2014/main" id="{9C98DCE6-D7D1-468B-80B5-E7B11C5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31432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3" name="focus-accent">
            <a:extLst xmlns:a="http://schemas.openxmlformats.org/drawingml/2006/main">
              <a:ext uri="{FF2B5EF4-FFF2-40B4-BE49-F238E27FC236}">
                <a16:creationId xmlns:a16="http://schemas.microsoft.com/office/drawing/2014/main" id="{C92E3731-3F94-4BA2-96B9-839E4345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14" name="focus-heading">
            <a:extLst xmlns:a="http://schemas.openxmlformats.org/drawingml/2006/main">
              <a:ext uri="{FF2B5EF4-FFF2-40B4-BE49-F238E27FC236}">
                <a16:creationId xmlns:a16="http://schemas.microsoft.com/office/drawing/2014/main" id="{C205ABCF-9D50-4303-81DD-5054E28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Current focus</a:t>
            </a:r>
          </a:p>
        </p:txBody>
      </p:sp>
      <p:sp>
        <p:nvSpPr>
          <p:cNvPr id="15" name="focus-body">
            <a:extLst xmlns:a="http://schemas.openxmlformats.org/drawingml/2006/main">
              <a:ext uri="{FF2B5EF4-FFF2-40B4-BE49-F238E27FC236}">
                <a16:creationId xmlns:a16="http://schemas.microsoft.com/office/drawing/2014/main" id="{0027F08B-1EFD-4F91-9A34-EF131EA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2800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A demo-ready vertical slice: Game Shell, Acts 1–3, narrative flow, backend foundation, and client sync.</a:t>
            </a:r>
          </a:p>
        </p:txBody>
      </p:sp>
      <p:sp>
        <p:nvSpPr>
          <p:cNvPr id="16" name="focus-band">
            <a:extLst xmlns:a="http://schemas.openxmlformats.org/drawingml/2006/main">
              <a:ext uri="{FF2B5EF4-FFF2-40B4-BE49-F238E27FC236}">
                <a16:creationId xmlns:a16="http://schemas.microsoft.com/office/drawing/2014/main" id="{51C1CFE5-A625-4963-B145-DE30A94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41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13A"/>
          </a:solidFill>
          <a:ln xmlns:a="http://schemas.openxmlformats.org/drawingml/2006/main" w="11430">
            <a:solidFill>
              <a:srgbClr val="17213A"/>
            </a:solidFill>
            <a:prstDash val="solid"/>
          </a:ln>
        </p:spPr>
      </p:sp>
      <p:sp>
        <p:nvSpPr>
          <p:cNvPr id="17" name="focus-line">
            <a:extLst xmlns:a="http://schemas.openxmlformats.org/drawingml/2006/main">
              <a:ext uri="{FF2B5EF4-FFF2-40B4-BE49-F238E27FC236}">
                <a16:creationId xmlns:a16="http://schemas.microsoft.com/office/drawing/2014/main" id="{CF76BB64-56AE-45D4-ABDF-277BDF37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43450"/>
            <a:ext cx="853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Shift for this meeting: show what can be played and what system pieces are already connected.</a:t>
            </a:r>
          </a:p>
        </p:txBody>
      </p: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C6AE343F-90D2-4AE6-886E-FC930F8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1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33F8B7B-1756-4CC7-AFE5-64A75C30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9590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D49884B-CBDD-4E44-AEC4-B4FA59E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69E55E-AF52-4C48-821D-7398C19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Project Goal &amp; Research Framing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EA812D-E969-4952-BF35-1EECF96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rq-card">
            <a:extLst xmlns:a="http://schemas.openxmlformats.org/drawingml/2006/main">
              <a:ext uri="{FF2B5EF4-FFF2-40B4-BE49-F238E27FC236}">
                <a16:creationId xmlns:a16="http://schemas.microsoft.com/office/drawing/2014/main" id="{EFEC30F7-F071-44DE-B83F-55C5AAA3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rq-label">
            <a:extLst xmlns:a="http://schemas.openxmlformats.org/drawingml/2006/main">
              <a:ext uri="{FF2B5EF4-FFF2-40B4-BE49-F238E27FC236}">
                <a16:creationId xmlns:a16="http://schemas.microsoft.com/office/drawing/2014/main" id="{B18C869B-4893-49ED-9159-FE3B108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69D8"/>
                </a:solidFill>
              </a:defRPr>
            </a:pPr>
            <a:r>
              <a:rPr sz="1200" b="1" i="0">
                <a:solidFill>
                  <a:srgbClr val="4769D8"/>
                </a:solidFill>
              </a:rPr>
              <a:t>Main question</a:t>
            </a:r>
          </a:p>
        </p:txBody>
      </p:sp>
      <p:sp>
        <p:nvSpPr>
          <p:cNvPr id="6" name="rq">
            <a:extLst xmlns:a="http://schemas.openxmlformats.org/drawingml/2006/main">
              <a:ext uri="{FF2B5EF4-FFF2-40B4-BE49-F238E27FC236}">
                <a16:creationId xmlns:a16="http://schemas.microsoft.com/office/drawing/2014/main" id="{EBFFF43D-902A-4777-B630-4EA7EB0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243B"/>
                </a:solidFill>
              </a:defRPr>
            </a:pPr>
            <a:r>
              <a:rPr sz="1950" b="1" i="0">
                <a:solidFill>
                  <a:srgbClr val="18243B"/>
                </a:solidFill>
              </a:rPr>
              <a:t>How can selected chatbot and NLP concepts become playable puzzle mechanics in a narrative game prototype?</a:t>
            </a:r>
          </a:p>
        </p:txBody>
      </p:sp>
      <p:sp>
        <p:nvSpPr>
          <p:cNvPr id="7" name="loop-0">
            <a:extLst xmlns:a="http://schemas.openxmlformats.org/drawingml/2006/main">
              <a:ext uri="{FF2B5EF4-FFF2-40B4-BE49-F238E27FC236}">
                <a16:creationId xmlns:a16="http://schemas.microsoft.com/office/drawing/2014/main" id="{E040E74B-C366-46EA-B426-4B46C8C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3241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8" name="loop-num-0">
            <a:extLst xmlns:a="http://schemas.openxmlformats.org/drawingml/2006/main">
              <a:ext uri="{FF2B5EF4-FFF2-40B4-BE49-F238E27FC236}">
                <a16:creationId xmlns:a16="http://schemas.microsoft.com/office/drawing/2014/main" id="{EE3871D8-BA48-4270-A6DC-F9927551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400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EAF1FF"/>
            </a:solidFill>
            <a:prstDash val="solid"/>
          </a:ln>
        </p:spPr>
      </p:sp>
      <p:sp>
        <p:nvSpPr>
          <p:cNvPr id="9" name="loop-num-text-0">
            <a:extLst xmlns:a="http://schemas.openxmlformats.org/drawingml/2006/main">
              <a:ext uri="{FF2B5EF4-FFF2-40B4-BE49-F238E27FC236}">
                <a16:creationId xmlns:a16="http://schemas.microsoft.com/office/drawing/2014/main" id="{EA108743-478C-4345-8D3B-E7515F15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43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1</a:t>
            </a:r>
          </a:p>
        </p:txBody>
      </p:sp>
      <p:sp>
        <p:nvSpPr>
          <p:cNvPr id="10" name="loop-head-0">
            <a:extLst xmlns:a="http://schemas.openxmlformats.org/drawingml/2006/main">
              <a:ext uri="{FF2B5EF4-FFF2-40B4-BE49-F238E27FC236}">
                <a16:creationId xmlns:a16="http://schemas.microsoft.com/office/drawing/2014/main" id="{01F72849-5D37-4EAA-9801-65F61BD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Communication problem</a:t>
            </a:r>
          </a:p>
        </p:txBody>
      </p:sp>
      <p:sp>
        <p:nvSpPr>
          <p:cNvPr id="11" name="loop-body-0">
            <a:extLst xmlns:a="http://schemas.openxmlformats.org/drawingml/2006/main">
              <a:ext uri="{FF2B5EF4-FFF2-40B4-BE49-F238E27FC236}">
                <a16:creationId xmlns:a16="http://schemas.microsoft.com/office/drawing/2014/main" id="{191D2BFE-F73A-447B-B7E1-2F52CA1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Ghost misunderstands or replies out of order.</a:t>
            </a:r>
          </a:p>
        </p:txBody>
      </p:sp>
      <p:sp>
        <p:nvSpPr>
          <p:cNvPr id="12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9AA242A1-2C65-4646-B870-0178577E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769D8"/>
                </a:solidFill>
              </a:defRPr>
            </a:pPr>
            <a:r>
              <a:rPr sz="210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13" name="loop-1">
            <a:extLst xmlns:a="http://schemas.openxmlformats.org/drawingml/2006/main">
              <a:ext uri="{FF2B5EF4-FFF2-40B4-BE49-F238E27FC236}">
                <a16:creationId xmlns:a16="http://schemas.microsoft.com/office/drawing/2014/main" id="{16E981D4-92F6-4DA2-B02C-A12F6B8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3241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4" name="loop-num-1">
            <a:extLst xmlns:a="http://schemas.openxmlformats.org/drawingml/2006/main">
              <a:ext uri="{FF2B5EF4-FFF2-40B4-BE49-F238E27FC236}">
                <a16:creationId xmlns:a16="http://schemas.microsoft.com/office/drawing/2014/main" id="{CC572D85-8ECF-4CFC-9AB6-E355382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400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EAF1FF"/>
            </a:solidFill>
            <a:prstDash val="solid"/>
          </a:ln>
        </p:spPr>
      </p:sp>
      <p:sp>
        <p:nvSpPr>
          <p:cNvPr id="15" name="loop-num-text-1">
            <a:extLst xmlns:a="http://schemas.openxmlformats.org/drawingml/2006/main">
              <a:ext uri="{FF2B5EF4-FFF2-40B4-BE49-F238E27FC236}">
                <a16:creationId xmlns:a16="http://schemas.microsoft.com/office/drawing/2014/main" id="{7B84D3CE-46AD-451F-B7E3-A79A471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43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2</a:t>
            </a:r>
          </a:p>
        </p:txBody>
      </p:sp>
      <p:sp>
        <p:nvSpPr>
          <p:cNvPr id="16" name="loop-head-1">
            <a:extLst xmlns:a="http://schemas.openxmlformats.org/drawingml/2006/main">
              <a:ext uri="{FF2B5EF4-FFF2-40B4-BE49-F238E27FC236}">
                <a16:creationId xmlns:a16="http://schemas.microsoft.com/office/drawing/2014/main" id="{A58E8744-A55C-41D5-94D5-BE6D209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956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Puzzle action</a:t>
            </a:r>
          </a:p>
        </p:txBody>
      </p:sp>
      <p:sp>
        <p:nvSpPr>
          <p:cNvPr id="17" name="loop-body-1">
            <a:extLst xmlns:a="http://schemas.openxmlformats.org/drawingml/2006/main">
              <a:ext uri="{FF2B5EF4-FFF2-40B4-BE49-F238E27FC236}">
                <a16:creationId xmlns:a16="http://schemas.microsoft.com/office/drawing/2014/main" id="{B44A70F3-B56C-4123-8807-2DC31A55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Player classifies, tags, or connects.</a:t>
            </a:r>
          </a:p>
        </p:txBody>
      </p:sp>
      <p:sp>
        <p:nvSpPr>
          <p:cNvPr id="18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B8F14969-BED1-4908-A969-6A866CDE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90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769D8"/>
                </a:solidFill>
              </a:defRPr>
            </a:pPr>
            <a:r>
              <a:rPr sz="210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19" name="loop-2">
            <a:extLst xmlns:a="http://schemas.openxmlformats.org/drawingml/2006/main">
              <a:ext uri="{FF2B5EF4-FFF2-40B4-BE49-F238E27FC236}">
                <a16:creationId xmlns:a16="http://schemas.microsoft.com/office/drawing/2014/main" id="{691B19FE-5328-42DB-9AFF-F0DCB3B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3241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7DC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0" name="loop-num-2">
            <a:extLst xmlns:a="http://schemas.openxmlformats.org/drawingml/2006/main">
              <a:ext uri="{FF2B5EF4-FFF2-40B4-BE49-F238E27FC236}">
                <a16:creationId xmlns:a16="http://schemas.microsoft.com/office/drawing/2014/main" id="{E6904799-C1B9-401F-9F33-9DE281B4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00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21" name="loop-num-text-2">
            <a:extLst xmlns:a="http://schemas.openxmlformats.org/drawingml/2006/main">
              <a:ext uri="{FF2B5EF4-FFF2-40B4-BE49-F238E27FC236}">
                <a16:creationId xmlns:a16="http://schemas.microsoft.com/office/drawing/2014/main" id="{B6D523AD-5041-4A40-B94C-91E993E5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43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3</a:t>
            </a:r>
          </a:p>
        </p:txBody>
      </p:sp>
      <p:sp>
        <p:nvSpPr>
          <p:cNvPr id="22" name="loop-head-2">
            <a:extLst xmlns:a="http://schemas.openxmlformats.org/drawingml/2006/main">
              <a:ext uri="{FF2B5EF4-FFF2-40B4-BE49-F238E27FC236}">
                <a16:creationId xmlns:a16="http://schemas.microsoft.com/office/drawing/2014/main" id="{56CA5F1B-2778-483D-BF89-7938446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Deterministic check</a:t>
            </a:r>
          </a:p>
        </p:txBody>
      </p:sp>
      <p:sp>
        <p:nvSpPr>
          <p:cNvPr id="2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108CC9E5-1C35-4BCD-875C-4DBC239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Validators decide correctness, not an LLM.</a:t>
            </a:r>
          </a:p>
        </p:txBody>
      </p:sp>
      <p:sp>
        <p:nvSpPr>
          <p:cNvPr id="24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99803CC2-F543-4D49-8291-EADAAF11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769D8"/>
                </a:solidFill>
              </a:defRPr>
            </a:pPr>
            <a:r>
              <a:rPr sz="210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25" name="loop-3">
            <a:extLst xmlns:a="http://schemas.openxmlformats.org/drawingml/2006/main">
              <a:ext uri="{FF2B5EF4-FFF2-40B4-BE49-F238E27FC236}">
                <a16:creationId xmlns:a16="http://schemas.microsoft.com/office/drawing/2014/main" id="{CD7260CE-AFF3-436A-9B2A-F5C88F7F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3241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6" name="loop-num-3">
            <a:extLst xmlns:a="http://schemas.openxmlformats.org/drawingml/2006/main">
              <a:ext uri="{FF2B5EF4-FFF2-40B4-BE49-F238E27FC236}">
                <a16:creationId xmlns:a16="http://schemas.microsoft.com/office/drawing/2014/main" id="{8398CAF3-104D-4548-AB3A-6E795777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400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EAF1FF"/>
            </a:solidFill>
            <a:prstDash val="solid"/>
          </a:ln>
        </p:spPr>
      </p:sp>
      <p:sp>
        <p:nvSpPr>
          <p:cNvPr id="27" name="loop-num-text-3">
            <a:extLst xmlns:a="http://schemas.openxmlformats.org/drawingml/2006/main">
              <a:ext uri="{FF2B5EF4-FFF2-40B4-BE49-F238E27FC236}">
                <a16:creationId xmlns:a16="http://schemas.microsoft.com/office/drawing/2014/main" id="{FAB74DB2-9AA5-4E2D-A261-E87EC92E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43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4</a:t>
            </a:r>
          </a:p>
        </p:txBody>
      </p:sp>
      <p:sp>
        <p:nvSpPr>
          <p:cNvPr id="28" name="loop-head-3">
            <a:extLst xmlns:a="http://schemas.openxmlformats.org/drawingml/2006/main">
              <a:ext uri="{FF2B5EF4-FFF2-40B4-BE49-F238E27FC236}">
                <a16:creationId xmlns:a16="http://schemas.microsoft.com/office/drawing/2014/main" id="{26BC0DEB-3993-485D-9D37-B263B21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Visible response</a:t>
            </a:r>
          </a:p>
        </p:txBody>
      </p:sp>
      <p:sp>
        <p:nvSpPr>
          <p:cNvPr id="29" name="loop-body-3">
            <a:extLst xmlns:a="http://schemas.openxmlformats.org/drawingml/2006/main">
              <a:ext uri="{FF2B5EF4-FFF2-40B4-BE49-F238E27FC236}">
                <a16:creationId xmlns:a16="http://schemas.microsoft.com/office/drawing/2014/main" id="{8440080F-869D-48B4-976A-B6AE376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Ghost’s reaction changes based on the result.</a:t>
            </a:r>
          </a:p>
        </p:txBody>
      </p:sp>
      <p:sp>
        <p:nvSpPr>
          <p:cNvPr id="30" name="footer-3">
            <a:extLst xmlns:a="http://schemas.openxmlformats.org/drawingml/2006/main">
              <a:ext uri="{FF2B5EF4-FFF2-40B4-BE49-F238E27FC236}">
                <a16:creationId xmlns:a16="http://schemas.microsoft.com/office/drawing/2014/main" id="{DAB6851F-A707-498D-86DD-63DC880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31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836B6A2-7F35-43EC-B85D-3D64C12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379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7C31445-C223-4B32-9764-6C3B707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48B559-DD9B-402D-ABF4-6ADC3BCC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Literature / Design Rationale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D2EDC7-794D-4ACB-8113-55E021F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lit-game-card">
            <a:extLst xmlns:a="http://schemas.openxmlformats.org/drawingml/2006/main">
              <a:ext uri="{FF2B5EF4-FFF2-40B4-BE49-F238E27FC236}">
                <a16:creationId xmlns:a16="http://schemas.microsoft.com/office/drawing/2014/main" id="{E524859D-CD42-4574-9C84-5670E17D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lit-game-accent">
            <a:extLst xmlns:a="http://schemas.openxmlformats.org/drawingml/2006/main">
              <a:ext uri="{FF2B5EF4-FFF2-40B4-BE49-F238E27FC236}">
                <a16:creationId xmlns:a16="http://schemas.microsoft.com/office/drawing/2014/main" id="{978C8D6D-81B6-4551-A8B2-A3F8F04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6" name="lit-game-heading">
            <a:extLst xmlns:a="http://schemas.openxmlformats.org/drawingml/2006/main">
              <a:ext uri="{FF2B5EF4-FFF2-40B4-BE49-F238E27FC236}">
                <a16:creationId xmlns:a16="http://schemas.microsoft.com/office/drawing/2014/main" id="{899432B7-24A1-45C4-A081-D8A2BFCE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Game-based learning</a:t>
            </a:r>
          </a:p>
        </p:txBody>
      </p:sp>
      <p:sp>
        <p:nvSpPr>
          <p:cNvPr id="7" name="lit-game-body">
            <a:extLst xmlns:a="http://schemas.openxmlformats.org/drawingml/2006/main">
              <a:ext uri="{FF2B5EF4-FFF2-40B4-BE49-F238E27FC236}">
                <a16:creationId xmlns:a16="http://schemas.microsoft.com/office/drawing/2014/main" id="{2BEF0333-3597-45D1-B58E-1A9FE6B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Actions should directly teach content: the player learns the concept by doing the concept.</a:t>
            </a:r>
          </a:p>
        </p:txBody>
      </p:sp>
      <p:sp>
        <p:nvSpPr>
          <p:cNvPr id="8" name="lit-agent-card">
            <a:extLst xmlns:a="http://schemas.openxmlformats.org/drawingml/2006/main">
              <a:ext uri="{FF2B5EF4-FFF2-40B4-BE49-F238E27FC236}">
                <a16:creationId xmlns:a16="http://schemas.microsoft.com/office/drawing/2014/main" id="{C3E3096B-D2AA-4537-BD2B-40BFA06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9" name="lit-agent-accent">
            <a:extLst xmlns:a="http://schemas.openxmlformats.org/drawingml/2006/main">
              <a:ext uri="{FF2B5EF4-FFF2-40B4-BE49-F238E27FC236}">
                <a16:creationId xmlns:a16="http://schemas.microsoft.com/office/drawing/2014/main" id="{AD9991C7-16A2-48CC-8C41-249F6E7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F7"/>
          </a:solidFill>
          <a:ln xmlns:a="http://schemas.openxmlformats.org/drawingml/2006/main" w="11430">
            <a:solidFill>
              <a:srgbClr val="E5DDF7"/>
            </a:solidFill>
            <a:prstDash val="solid"/>
          </a:ln>
        </p:spPr>
      </p:sp>
      <p:sp>
        <p:nvSpPr>
          <p:cNvPr id="10" name="lit-agent-heading">
            <a:extLst xmlns:a="http://schemas.openxmlformats.org/drawingml/2006/main">
              <a:ext uri="{FF2B5EF4-FFF2-40B4-BE49-F238E27FC236}">
                <a16:creationId xmlns:a16="http://schemas.microsoft.com/office/drawing/2014/main" id="{ADBA6FB2-196D-49A3-9100-476086D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Narrative &amp; agents</a:t>
            </a:r>
          </a:p>
        </p:txBody>
      </p:sp>
      <p:sp>
        <p:nvSpPr>
          <p:cNvPr id="11" name="lit-agent-body">
            <a:extLst xmlns:a="http://schemas.openxmlformats.org/drawingml/2006/main">
              <a:ext uri="{FF2B5EF4-FFF2-40B4-BE49-F238E27FC236}">
                <a16:creationId xmlns:a16="http://schemas.microsoft.com/office/drawing/2014/main" id="{2E5190A6-3EE9-4C26-A087-DC2871D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Ghost and Lily turn abstract NLP topics into a motivated repair task with social scaffolding.</a:t>
            </a:r>
          </a:p>
        </p:txBody>
      </p:sp>
      <p:sp>
        <p:nvSpPr>
          <p:cNvPr id="12" name="lit-llm-card">
            <a:extLst xmlns:a="http://schemas.openxmlformats.org/drawingml/2006/main">
              <a:ext uri="{FF2B5EF4-FFF2-40B4-BE49-F238E27FC236}">
                <a16:creationId xmlns:a16="http://schemas.microsoft.com/office/drawing/2014/main" id="{374CECF8-4D17-42FB-A967-9672493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04950"/>
            <a:ext cx="3238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3" name="lit-llm-accent">
            <a:extLst xmlns:a="http://schemas.openxmlformats.org/drawingml/2006/main">
              <a:ext uri="{FF2B5EF4-FFF2-40B4-BE49-F238E27FC236}">
                <a16:creationId xmlns:a16="http://schemas.microsoft.com/office/drawing/2014/main" id="{996E0C4A-F4BB-4C6E-A107-161B58F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049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EAF1FF"/>
            </a:solidFill>
            <a:prstDash val="solid"/>
          </a:ln>
        </p:spPr>
      </p:sp>
      <p:sp>
        <p:nvSpPr>
          <p:cNvPr id="14" name="lit-llm-heading">
            <a:extLst xmlns:a="http://schemas.openxmlformats.org/drawingml/2006/main">
              <a:ext uri="{FF2B5EF4-FFF2-40B4-BE49-F238E27FC236}">
                <a16:creationId xmlns:a16="http://schemas.microsoft.com/office/drawing/2014/main" id="{5819504F-5C61-45F1-9704-677562AF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43B"/>
                </a:solidFill>
              </a:defRPr>
            </a:pPr>
            <a:r>
              <a:rPr sz="1425" b="1" i="0">
                <a:solidFill>
                  <a:srgbClr val="18243B"/>
                </a:solidFill>
              </a:rPr>
              <a:t>LLM support boundary</a:t>
            </a:r>
          </a:p>
        </p:txBody>
      </p:sp>
      <p:sp>
        <p:nvSpPr>
          <p:cNvPr id="15" name="lit-llm-body">
            <a:extLst xmlns:a="http://schemas.openxmlformats.org/drawingml/2006/main">
              <a:ext uri="{FF2B5EF4-FFF2-40B4-BE49-F238E27FC236}">
                <a16:creationId xmlns:a16="http://schemas.microsoft.com/office/drawing/2014/main" id="{9F674689-C50B-4C3D-8799-7C87BE6A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Future LLM use is for hints, explanations, and response variation; scoring remains deterministic.</a:t>
            </a:r>
          </a:p>
        </p:txBody>
      </p:sp>
      <p:sp>
        <p:nvSpPr>
          <p:cNvPr id="16" name="source-band">
            <a:extLst xmlns:a="http://schemas.openxmlformats.org/drawingml/2006/main">
              <a:ext uri="{FF2B5EF4-FFF2-40B4-BE49-F238E27FC236}">
                <a16:creationId xmlns:a16="http://schemas.microsoft.com/office/drawing/2014/main" id="{3EDC5C07-0F9C-4731-B778-2DBFB94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994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EAFB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7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9BB4C1F5-6709-41B8-8565-B0F5DBF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Academic framing carried forward from previous decks</a:t>
            </a:r>
          </a:p>
        </p:txBody>
      </p:sp>
      <p:sp>
        <p:nvSpPr>
          <p:cNvPr id="18" name="source-names">
            <a:extLst xmlns:a="http://schemas.openxmlformats.org/drawingml/2006/main">
              <a:ext uri="{FF2B5EF4-FFF2-40B4-BE49-F238E27FC236}">
                <a16:creationId xmlns:a16="http://schemas.microsoft.com/office/drawing/2014/main" id="{4AB56556-00FC-43F7-B772-8DDE091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Mayer · Plass et al. · Moreno et al. · Kim &amp; Baylor · Graesser et al.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6356C4E8-50C5-4705-9975-7C9B7CE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2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DFB220F-F348-4534-AEFD-5A1E280D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6427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F593684-4981-4096-9A1E-2787337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1CC7FD-7293-4518-A467-BDE4AC6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Current Demo Overview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ED322E-8C47-4D65-ADCE-3E877C7C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shell-card">
            <a:extLst xmlns:a="http://schemas.openxmlformats.org/drawingml/2006/main">
              <a:ext uri="{FF2B5EF4-FFF2-40B4-BE49-F238E27FC236}">
                <a16:creationId xmlns:a16="http://schemas.microsoft.com/office/drawing/2014/main" id="{FF108AFF-740B-484F-9D57-1E8501E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shell-title">
            <a:extLst xmlns:a="http://schemas.openxmlformats.org/drawingml/2006/main">
              <a:ext uri="{FF2B5EF4-FFF2-40B4-BE49-F238E27FC236}">
                <a16:creationId xmlns:a16="http://schemas.microsoft.com/office/drawing/2014/main" id="{3D6BF69A-D180-4A49-952F-2AB9ED4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Game Shell</a:t>
            </a:r>
          </a:p>
        </p:txBody>
      </p:sp>
      <p:sp>
        <p:nvSpPr>
          <p:cNvPr id="6" name="shell-detail">
            <a:extLst xmlns:a="http://schemas.openxmlformats.org/drawingml/2006/main">
              <a:ext uri="{FF2B5EF4-FFF2-40B4-BE49-F238E27FC236}">
                <a16:creationId xmlns:a16="http://schemas.microsoft.com/office/drawing/2014/main" id="{F762180D-5F98-40A8-B37D-8B60CC3D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Title, name entry, hub, act intro/debrief, return overlay.</a:t>
            </a:r>
          </a:p>
        </p:txBody>
      </p:sp>
      <p:sp>
        <p:nvSpPr>
          <p:cNvPr id="7" name="shell-status-pill-bg">
            <a:extLst xmlns:a="http://schemas.openxmlformats.org/drawingml/2006/main">
              <a:ext uri="{FF2B5EF4-FFF2-40B4-BE49-F238E27FC236}">
                <a16:creationId xmlns:a16="http://schemas.microsoft.com/office/drawing/2014/main" id="{199888EA-5E99-4D00-8F71-B1E4AF8E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DCFCE7"/>
            </a:solidFill>
            <a:prstDash val="solid"/>
          </a:ln>
        </p:spPr>
      </p:sp>
      <p:sp>
        <p:nvSpPr>
          <p:cNvPr id="8" name="shell-status-pill-text">
            <a:extLst xmlns:a="http://schemas.openxmlformats.org/drawingml/2006/main">
              <a:ext uri="{FF2B5EF4-FFF2-40B4-BE49-F238E27FC236}">
                <a16:creationId xmlns:a16="http://schemas.microsoft.com/office/drawing/2014/main" id="{D8DA7957-543C-448E-B8AE-F2CDE934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6534"/>
                </a:solidFill>
              </a:defRPr>
            </a:pPr>
            <a:r>
              <a:rPr sz="900" b="1" i="0">
                <a:solidFill>
                  <a:srgbClr val="166534"/>
                </a:solidFill>
              </a:rPr>
              <a:t>playable</a:t>
            </a:r>
          </a:p>
        </p:txBody>
      </p:sp>
      <p:sp>
        <p:nvSpPr>
          <p:cNvPr id="9" name="act1-card">
            <a:extLst xmlns:a="http://schemas.openxmlformats.org/drawingml/2006/main">
              <a:ext uri="{FF2B5EF4-FFF2-40B4-BE49-F238E27FC236}">
                <a16:creationId xmlns:a16="http://schemas.microsoft.com/office/drawing/2014/main" id="{65BC7B4B-C77E-4DFC-A20D-E0E3A7FA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430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0" name="act1-title">
            <a:extLst xmlns:a="http://schemas.openxmlformats.org/drawingml/2006/main">
              <a:ext uri="{FF2B5EF4-FFF2-40B4-BE49-F238E27FC236}">
                <a16:creationId xmlns:a16="http://schemas.microsoft.com/office/drawing/2014/main" id="{861C05AB-9B17-4126-AFD0-DDD64BDD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95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Act 1: Intent</a:t>
            </a:r>
          </a:p>
        </p:txBody>
      </p:sp>
      <p:sp>
        <p:nvSpPr>
          <p:cNvPr id="11" name="act1-detail">
            <a:extLst xmlns:a="http://schemas.openxmlformats.org/drawingml/2006/main">
              <a:ext uri="{FF2B5EF4-FFF2-40B4-BE49-F238E27FC236}">
                <a16:creationId xmlns:a16="http://schemas.microsoft.com/office/drawing/2014/main" id="{29149FF1-E4BE-401D-831B-7B4345A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81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Group messages by purpose; deterministic validation.</a:t>
            </a:r>
          </a:p>
        </p:txBody>
      </p:sp>
      <p:sp>
        <p:nvSpPr>
          <p:cNvPr id="12" name="act1-status-pill-bg">
            <a:extLst xmlns:a="http://schemas.openxmlformats.org/drawingml/2006/main">
              <a:ext uri="{FF2B5EF4-FFF2-40B4-BE49-F238E27FC236}">
                <a16:creationId xmlns:a16="http://schemas.microsoft.com/office/drawing/2014/main" id="{3FEB97E1-62C1-4C4B-B96A-0E443233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DCFCE7"/>
            </a:solidFill>
            <a:prstDash val="solid"/>
          </a:ln>
        </p:spPr>
      </p:sp>
      <p:sp>
        <p:nvSpPr>
          <p:cNvPr id="13" name="act1-status-pill-text">
            <a:extLst xmlns:a="http://schemas.openxmlformats.org/drawingml/2006/main">
              <a:ext uri="{FF2B5EF4-FFF2-40B4-BE49-F238E27FC236}">
                <a16:creationId xmlns:a16="http://schemas.microsoft.com/office/drawing/2014/main" id="{99DB1F52-1755-49ED-B755-FB257EB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6534"/>
                </a:solidFill>
              </a:defRPr>
            </a:pPr>
            <a:r>
              <a:rPr sz="900" b="1" i="0">
                <a:solidFill>
                  <a:srgbClr val="166534"/>
                </a:solidFill>
              </a:rPr>
              <a:t>playable</a:t>
            </a:r>
          </a:p>
        </p:txBody>
      </p:sp>
      <p:sp>
        <p:nvSpPr>
          <p:cNvPr id="14" name="act2-card">
            <a:extLst xmlns:a="http://schemas.openxmlformats.org/drawingml/2006/main">
              <a:ext uri="{FF2B5EF4-FFF2-40B4-BE49-F238E27FC236}">
                <a16:creationId xmlns:a16="http://schemas.microsoft.com/office/drawing/2014/main" id="{62323B7D-1DAB-4018-B579-8170018D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430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5" name="act2-title">
            <a:extLst xmlns:a="http://schemas.openxmlformats.org/drawingml/2006/main">
              <a:ext uri="{FF2B5EF4-FFF2-40B4-BE49-F238E27FC236}">
                <a16:creationId xmlns:a16="http://schemas.microsoft.com/office/drawing/2014/main" id="{866E91CA-FD2B-4D74-9BFF-FE11562F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95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Act 2: Entity</a:t>
            </a:r>
          </a:p>
        </p:txBody>
      </p:sp>
      <p:sp>
        <p:nvSpPr>
          <p:cNvPr id="16" name="act2-detail">
            <a:extLst xmlns:a="http://schemas.openxmlformats.org/drawingml/2006/main">
              <a:ext uri="{FF2B5EF4-FFF2-40B4-BE49-F238E27FC236}">
                <a16:creationId xmlns:a16="http://schemas.microsoft.com/office/drawing/2014/main" id="{7B456DAB-43E6-4BEF-98AD-D02265CE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81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Tag word chips with system/custom entity types.</a:t>
            </a:r>
          </a:p>
        </p:txBody>
      </p:sp>
      <p:sp>
        <p:nvSpPr>
          <p:cNvPr id="17" name="act2-status-pill-bg">
            <a:extLst xmlns:a="http://schemas.openxmlformats.org/drawingml/2006/main">
              <a:ext uri="{FF2B5EF4-FFF2-40B4-BE49-F238E27FC236}">
                <a16:creationId xmlns:a16="http://schemas.microsoft.com/office/drawing/2014/main" id="{F28F8FA9-B7CB-4B68-81BB-2933616A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DCFCE7"/>
            </a:solidFill>
            <a:prstDash val="solid"/>
          </a:ln>
        </p:spPr>
      </p:sp>
      <p:sp>
        <p:nvSpPr>
          <p:cNvPr id="18" name="act2-status-pill-text">
            <a:extLst xmlns:a="http://schemas.openxmlformats.org/drawingml/2006/main">
              <a:ext uri="{FF2B5EF4-FFF2-40B4-BE49-F238E27FC236}">
                <a16:creationId xmlns:a16="http://schemas.microsoft.com/office/drawing/2014/main" id="{1CDE288C-5B55-4FEF-97E2-7AED5FE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71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6534"/>
                </a:solidFill>
              </a:defRPr>
            </a:pPr>
            <a:r>
              <a:rPr sz="900" b="1" i="0">
                <a:solidFill>
                  <a:srgbClr val="166534"/>
                </a:solidFill>
              </a:rPr>
              <a:t>playable</a:t>
            </a:r>
          </a:p>
        </p:txBody>
      </p:sp>
      <p:sp>
        <p:nvSpPr>
          <p:cNvPr id="19" name="act3-card">
            <a:extLst xmlns:a="http://schemas.openxmlformats.org/drawingml/2006/main">
              <a:ext uri="{FF2B5EF4-FFF2-40B4-BE49-F238E27FC236}">
                <a16:creationId xmlns:a16="http://schemas.microsoft.com/office/drawing/2014/main" id="{0D1598A9-7783-4074-8F99-F41806F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430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0" name="act3-title">
            <a:extLst xmlns:a="http://schemas.openxmlformats.org/drawingml/2006/main">
              <a:ext uri="{FF2B5EF4-FFF2-40B4-BE49-F238E27FC236}">
                <a16:creationId xmlns:a16="http://schemas.microsoft.com/office/drawing/2014/main" id="{C698A550-4753-4E37-AAF4-35591A4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Act 3: Graph</a:t>
            </a:r>
          </a:p>
        </p:txBody>
      </p:sp>
      <p:sp>
        <p:nvSpPr>
          <p:cNvPr id="21" name="act3-detail">
            <a:extLst xmlns:a="http://schemas.openxmlformats.org/drawingml/2006/main">
              <a:ext uri="{FF2B5EF4-FFF2-40B4-BE49-F238E27FC236}">
                <a16:creationId xmlns:a16="http://schemas.microsoft.com/office/drawing/2014/main" id="{8C3694A3-5794-424B-9558-37810F3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81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Drag cards, connect ports, test Ghost’s reply map.</a:t>
            </a:r>
          </a:p>
        </p:txBody>
      </p:sp>
      <p:sp>
        <p:nvSpPr>
          <p:cNvPr id="22" name="act3-status-pill-bg">
            <a:extLst xmlns:a="http://schemas.openxmlformats.org/drawingml/2006/main">
              <a:ext uri="{FF2B5EF4-FFF2-40B4-BE49-F238E27FC236}">
                <a16:creationId xmlns:a16="http://schemas.microsoft.com/office/drawing/2014/main" id="{5829B792-F0EB-4272-B0DF-23B6A053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241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23" name="act3-status-pill-text">
            <a:extLst xmlns:a="http://schemas.openxmlformats.org/drawingml/2006/main">
              <a:ext uri="{FF2B5EF4-FFF2-40B4-BE49-F238E27FC236}">
                <a16:creationId xmlns:a16="http://schemas.microsoft.com/office/drawing/2014/main" id="{931C5C1C-D92F-48D3-AAC5-B54FA074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71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92400E"/>
                </a:solidFill>
              </a:defRPr>
            </a:pPr>
            <a:r>
              <a:rPr sz="900" b="1" i="0">
                <a:solidFill>
                  <a:srgbClr val="92400E"/>
                </a:solidFill>
              </a:rPr>
              <a:t>UX in progress</a:t>
            </a:r>
          </a:p>
        </p:txBody>
      </p:sp>
      <p:sp>
        <p:nvSpPr>
          <p:cNvPr id="24" name="backend-card">
            <a:extLst xmlns:a="http://schemas.openxmlformats.org/drawingml/2006/main">
              <a:ext uri="{FF2B5EF4-FFF2-40B4-BE49-F238E27FC236}">
                <a16:creationId xmlns:a16="http://schemas.microsoft.com/office/drawing/2014/main" id="{EC8FE05A-0546-41F0-9498-F5507F5C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5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C192EA32-6748-429B-890B-EED8BC8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Backend</a:t>
            </a:r>
          </a:p>
        </p:txBody>
      </p:sp>
      <p:sp>
        <p:nvSpPr>
          <p:cNvPr id="26" name="backend-detail">
            <a:extLst xmlns:a="http://schemas.openxmlformats.org/drawingml/2006/main">
              <a:ext uri="{FF2B5EF4-FFF2-40B4-BE49-F238E27FC236}">
                <a16:creationId xmlns:a16="http://schemas.microsoft.com/office/drawing/2014/main" id="{50A6C815-3EF6-4BAD-84D6-C6F54FFF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Node/TS REST + SQLite content/progress/attempt logs.</a:t>
            </a:r>
          </a:p>
        </p:txBody>
      </p:sp>
      <p:sp>
        <p:nvSpPr>
          <p:cNvPr id="27" name="backend-status-pill-bg">
            <a:extLst xmlns:a="http://schemas.openxmlformats.org/drawingml/2006/main">
              <a:ext uri="{FF2B5EF4-FFF2-40B4-BE49-F238E27FC236}">
                <a16:creationId xmlns:a16="http://schemas.microsoft.com/office/drawing/2014/main" id="{0D2E642D-2304-4BC4-B46B-5A7B6E2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241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28" name="backend-status-pill-text">
            <a:extLst xmlns:a="http://schemas.openxmlformats.org/drawingml/2006/main">
              <a:ext uri="{FF2B5EF4-FFF2-40B4-BE49-F238E27FC236}">
                <a16:creationId xmlns:a16="http://schemas.microsoft.com/office/drawing/2014/main" id="{3CE87D8D-08D6-4D1C-B1E2-2A24BEB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71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92400E"/>
                </a:solidFill>
              </a:defRPr>
            </a:pPr>
            <a:r>
              <a:rPr sz="900" b="1" i="0">
                <a:solidFill>
                  <a:srgbClr val="92400E"/>
                </a:solidFill>
              </a:rPr>
              <a:t>wired; verify</a:t>
            </a:r>
          </a:p>
        </p:txBody>
      </p:sp>
      <p:sp>
        <p:nvSpPr>
          <p:cNvPr id="29" name="demo-strip">
            <a:extLst xmlns:a="http://schemas.openxmlformats.org/drawingml/2006/main">
              <a:ext uri="{FF2B5EF4-FFF2-40B4-BE49-F238E27FC236}">
                <a16:creationId xmlns:a16="http://schemas.microsoft.com/office/drawing/2014/main" id="{034FC82D-3323-444C-AB0B-27ECCEC5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96393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7213A"/>
          </a:solidFill>
          <a:ln xmlns:a="http://schemas.openxmlformats.org/drawingml/2006/main" w="11430">
            <a:solidFill>
              <a:srgbClr val="17213A"/>
            </a:solidFill>
            <a:prstDash val="solid"/>
          </a:ln>
        </p:spPr>
      </p:sp>
      <p:sp>
        <p:nvSpPr>
          <p:cNvPr id="30" name="demo-strip-title">
            <a:extLst xmlns:a="http://schemas.openxmlformats.org/drawingml/2006/main">
              <a:ext uri="{FF2B5EF4-FFF2-40B4-BE49-F238E27FC236}">
                <a16:creationId xmlns:a16="http://schemas.microsoft.com/office/drawing/2014/main" id="{423F0E3E-16E8-4499-A58D-2142B48D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Middle of this deck = demo story</a:t>
            </a:r>
          </a:p>
        </p:txBody>
      </p:sp>
      <p:sp>
        <p:nvSpPr>
          <p:cNvPr id="31" name="demo-strip-copy">
            <a:extLst xmlns:a="http://schemas.openxmlformats.org/drawingml/2006/main">
              <a:ext uri="{FF2B5EF4-FFF2-40B4-BE49-F238E27FC236}">
                <a16:creationId xmlns:a16="http://schemas.microsoft.com/office/drawing/2014/main" id="{0FD78E3D-6515-434F-8461-4C63B6F9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D6E2FF"/>
                </a:solidFill>
              </a:defRPr>
            </a:pPr>
            <a:r>
              <a:rPr sz="1425" b="0" i="0">
                <a:solidFill>
                  <a:srgbClr val="D6E2FF"/>
                </a:solidFill>
              </a:rPr>
              <a:t>Shell → Acts 1 &amp; 2 → Act 3 graph → implemented architecture and evidence</a:t>
            </a:r>
          </a:p>
        </p:txBody>
      </p:sp>
      <p:sp>
        <p:nvSpPr>
          <p:cNvPr id="32" name="footer-5">
            <a:extLst xmlns:a="http://schemas.openxmlformats.org/drawingml/2006/main">
              <a:ext uri="{FF2B5EF4-FFF2-40B4-BE49-F238E27FC236}">
                <a16:creationId xmlns:a16="http://schemas.microsoft.com/office/drawing/2014/main" id="{8F96E882-1E28-4075-8A3F-935B572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3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EF75AD8-6654-4E75-9848-8CD6F0A3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896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8013FA8-C8DB-4880-9954-98EC46A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B0D3BF-8D50-4DB9-A547-B2421B53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DEMO 1 — Game Shell + Narrative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FE342F-A3BC-48B2-BC88-5E15E14B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shell-shot-box">
            <a:extLst xmlns:a="http://schemas.openxmlformats.org/drawingml/2006/main">
              <a:ext uri="{FF2B5EF4-FFF2-40B4-BE49-F238E27FC236}">
                <a16:creationId xmlns:a16="http://schemas.microsoft.com/office/drawing/2014/main" id="{0C4ACFE9-4741-485E-BA06-F9DF65C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E9EF"/>
          </a:solidFill>
          <a:ln xmlns:a="http://schemas.openxmlformats.org/drawingml/2006/main" w="11430">
            <a:solidFill>
              <a:srgbClr val="AEB5C6"/>
            </a:solidFill>
            <a:prstDash val="solid"/>
          </a:ln>
        </p:spPr>
      </p:sp>
      <p:sp>
        <p:nvSpPr>
          <p:cNvPr id="5" name="shell-shot-label">
            <a:extLst xmlns:a="http://schemas.openxmlformats.org/drawingml/2006/main">
              <a:ext uri="{FF2B5EF4-FFF2-40B4-BE49-F238E27FC236}">
                <a16:creationId xmlns:a16="http://schemas.microsoft.com/office/drawing/2014/main" id="{C836DD20-7A03-4574-8A78-505B433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603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75467"/>
                </a:solidFill>
              </a:defRPr>
            </a:pPr>
            <a:r>
              <a:rPr sz="1500" b="1" i="0">
                <a:solidFill>
                  <a:srgbClr val="475467"/>
                </a:solidFill>
              </a:rPr>
              <a:t>[Insert screenshot: title / name entry / act hub]</a:t>
            </a:r>
          </a:p>
        </p:txBody>
      </p:sp>
      <p:sp>
        <p:nvSpPr>
          <p:cNvPr id="6" name="shell-shot-hint">
            <a:extLst xmlns:a="http://schemas.openxmlformats.org/drawingml/2006/main">
              <a:ext uri="{FF2B5EF4-FFF2-40B4-BE49-F238E27FC236}">
                <a16:creationId xmlns:a16="http://schemas.microsoft.com/office/drawing/2014/main" id="{60D7ECDF-43AC-4F62-B4A2-852D25C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603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Replace with runtime screenshot</a:t>
            </a:r>
          </a:p>
        </p:txBody>
      </p:sp>
      <p:sp>
        <p:nvSpPr>
          <p:cNvPr id="7" name="shell-notes">
            <a:extLst xmlns:a="http://schemas.openxmlformats.org/drawingml/2006/main">
              <a:ext uri="{FF2B5EF4-FFF2-40B4-BE49-F238E27FC236}">
                <a16:creationId xmlns:a16="http://schemas.microsoft.com/office/drawing/2014/main" id="{87D3C209-6880-4A6B-96F9-D9BDB1C5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85900"/>
            <a:ext cx="3505200" cy="371475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8" name="shell-notes-title">
            <a:extLst xmlns:a="http://schemas.openxmlformats.org/drawingml/2006/main">
              <a:ext uri="{FF2B5EF4-FFF2-40B4-BE49-F238E27FC236}">
                <a16:creationId xmlns:a16="http://schemas.microsoft.com/office/drawing/2014/main" id="{8011B11C-3C0A-4ADC-A738-B723E67D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43B"/>
                </a:solidFill>
              </a:defRPr>
            </a:pPr>
            <a:r>
              <a:rPr sz="1800" b="1" i="0">
                <a:solidFill>
                  <a:srgbClr val="18243B"/>
                </a:solidFill>
              </a:rPr>
              <a:t>What this demonstrates</a:t>
            </a:r>
          </a:p>
        </p:txBody>
      </p:sp>
      <p:sp>
        <p:nvSpPr>
          <p:cNvPr id="9" name="shell-bullets-0">
            <a:extLst xmlns:a="http://schemas.openxmlformats.org/drawingml/2006/main">
              <a:ext uri="{FF2B5EF4-FFF2-40B4-BE49-F238E27FC236}">
                <a16:creationId xmlns:a16="http://schemas.microsoft.com/office/drawing/2014/main" id="{543ED268-10C7-4E6D-BDBD-5704C695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43B"/>
                </a:solidFill>
              </a:defRPr>
            </a:pPr>
            <a:r>
              <a:rPr sz="1275" b="0" i="0">
                <a:solidFill>
                  <a:srgbClr val="18243B"/>
                </a:solidFill>
              </a:rPr>
              <a:t>• Player name entry feeds narrative state.</a:t>
            </a:r>
          </a:p>
        </p:txBody>
      </p:sp>
      <p:sp>
        <p:nvSpPr>
          <p:cNvPr id="10" name="shell-bullets-1">
            <a:extLst xmlns:a="http://schemas.openxmlformats.org/drawingml/2006/main">
              <a:ext uri="{FF2B5EF4-FFF2-40B4-BE49-F238E27FC236}">
                <a16:creationId xmlns:a16="http://schemas.microsoft.com/office/drawing/2014/main" id="{4783F97C-59CF-410D-9BBA-632AC2E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43B"/>
                </a:solidFill>
              </a:defRPr>
            </a:pPr>
            <a:r>
              <a:rPr sz="1275" b="0" i="0">
                <a:solidFill>
                  <a:srgbClr val="18243B"/>
                </a:solidFill>
              </a:rPr>
              <a:t>• Lily dialogue frame introduces each Act.</a:t>
            </a:r>
          </a:p>
        </p:txBody>
      </p:sp>
      <p:sp>
        <p:nvSpPr>
          <p:cNvPr id="11" name="shell-bullets-2">
            <a:extLst xmlns:a="http://schemas.openxmlformats.org/drawingml/2006/main">
              <a:ext uri="{FF2B5EF4-FFF2-40B4-BE49-F238E27FC236}">
                <a16:creationId xmlns:a16="http://schemas.microsoft.com/office/drawing/2014/main" id="{2BFE6145-1DA7-48C8-B6AF-1CB6F56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43B"/>
                </a:solidFill>
              </a:defRPr>
            </a:pPr>
            <a:r>
              <a:rPr sz="1275" b="0" i="0">
                <a:solidFill>
                  <a:srgbClr val="18243B"/>
                </a:solidFill>
              </a:rPr>
              <a:t>• Act debriefs play after returning to hub.</a:t>
            </a:r>
          </a:p>
        </p:txBody>
      </p:sp>
      <p:sp>
        <p:nvSpPr>
          <p:cNvPr id="12" name="shell-bullets-3">
            <a:extLst xmlns:a="http://schemas.openxmlformats.org/drawingml/2006/main">
              <a:ext uri="{FF2B5EF4-FFF2-40B4-BE49-F238E27FC236}">
                <a16:creationId xmlns:a16="http://schemas.microsoft.com/office/drawing/2014/main" id="{04E5A3F4-9E12-4729-90A0-E3C99A88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43B"/>
                </a:solidFill>
              </a:defRPr>
            </a:pPr>
            <a:r>
              <a:rPr sz="1275" b="0" i="0">
                <a:solidFill>
                  <a:srgbClr val="18243B"/>
                </a:solidFill>
              </a:rPr>
              <a:t>• Return-to-hub overlay keeps acts connected.</a:t>
            </a:r>
          </a:p>
        </p:txBody>
      </p:sp>
      <p:sp>
        <p:nvSpPr>
          <p:cNvPr id="13" name="footer-6">
            <a:extLst xmlns:a="http://schemas.openxmlformats.org/drawingml/2006/main">
              <a:ext uri="{FF2B5EF4-FFF2-40B4-BE49-F238E27FC236}">
                <a16:creationId xmlns:a16="http://schemas.microsoft.com/office/drawing/2014/main" id="{737F0FF8-32D7-425A-871B-7630B24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1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84BF405-8F76-449F-A238-4A0FA1C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22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7CD0A03-2610-4B77-94F7-3C8564D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2E29C-3108-46D2-BED7-8347D9A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DEMO 2 — Acts 1 &amp; 2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A4F2127-6D56-4548-ABAB-03483D7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act1-shot-box">
            <a:extLst xmlns:a="http://schemas.openxmlformats.org/drawingml/2006/main">
              <a:ext uri="{FF2B5EF4-FFF2-40B4-BE49-F238E27FC236}">
                <a16:creationId xmlns:a16="http://schemas.microsoft.com/office/drawing/2014/main" id="{AE38991C-A629-43A1-91B9-0B3D860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911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6E9EF"/>
          </a:solidFill>
          <a:ln xmlns:a="http://schemas.openxmlformats.org/drawingml/2006/main" w="11430">
            <a:solidFill>
              <a:srgbClr val="AEB5C6"/>
            </a:solidFill>
            <a:prstDash val="solid"/>
          </a:ln>
        </p:spPr>
      </p:sp>
      <p:sp>
        <p:nvSpPr>
          <p:cNvPr id="5" name="act1-shot-label">
            <a:extLst xmlns:a="http://schemas.openxmlformats.org/drawingml/2006/main">
              <a:ext uri="{FF2B5EF4-FFF2-40B4-BE49-F238E27FC236}">
                <a16:creationId xmlns:a16="http://schemas.microsoft.com/office/drawing/2014/main" id="{A259DD5A-1E61-4E51-8109-4758660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75467"/>
                </a:solidFill>
              </a:defRPr>
            </a:pPr>
            <a:r>
              <a:rPr sz="1500" b="1" i="0">
                <a:solidFill>
                  <a:srgbClr val="475467"/>
                </a:solidFill>
              </a:rPr>
              <a:t>[Insert screenshot: intent card grouping]</a:t>
            </a:r>
          </a:p>
        </p:txBody>
      </p:sp>
      <p:sp>
        <p:nvSpPr>
          <p:cNvPr id="6" name="act1-shot-hint">
            <a:extLst xmlns:a="http://schemas.openxmlformats.org/drawingml/2006/main">
              <a:ext uri="{FF2B5EF4-FFF2-40B4-BE49-F238E27FC236}">
                <a16:creationId xmlns:a16="http://schemas.microsoft.com/office/drawing/2014/main" id="{9BD9139A-5902-420A-8DA7-42D3ABE7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Replace with runtime screenshot</a:t>
            </a:r>
          </a:p>
        </p:txBody>
      </p:sp>
      <p:sp>
        <p:nvSpPr>
          <p:cNvPr id="7" name="act2-shot-box">
            <a:extLst xmlns:a="http://schemas.openxmlformats.org/drawingml/2006/main">
              <a:ext uri="{FF2B5EF4-FFF2-40B4-BE49-F238E27FC236}">
                <a16:creationId xmlns:a16="http://schemas.microsoft.com/office/drawing/2014/main" id="{A43F2337-DE9B-4778-8275-CDB9DAF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49911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6E9EF"/>
          </a:solidFill>
          <a:ln xmlns:a="http://schemas.openxmlformats.org/drawingml/2006/main" w="11430">
            <a:solidFill>
              <a:srgbClr val="AEB5C6"/>
            </a:solidFill>
            <a:prstDash val="solid"/>
          </a:ln>
        </p:spPr>
      </p:sp>
      <p:sp>
        <p:nvSpPr>
          <p:cNvPr id="8" name="act2-shot-label">
            <a:extLst xmlns:a="http://schemas.openxmlformats.org/drawingml/2006/main">
              <a:ext uri="{FF2B5EF4-FFF2-40B4-BE49-F238E27FC236}">
                <a16:creationId xmlns:a16="http://schemas.microsoft.com/office/drawing/2014/main" id="{45205779-ED53-4DA6-8EEC-F0257F3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75467"/>
                </a:solidFill>
              </a:defRPr>
            </a:pPr>
            <a:r>
              <a:rPr sz="1500" b="1" i="0">
                <a:solidFill>
                  <a:srgbClr val="475467"/>
                </a:solidFill>
              </a:rPr>
              <a:t>[Insert screenshot: entity chip tagging]</a:t>
            </a:r>
          </a:p>
        </p:txBody>
      </p:sp>
      <p:sp>
        <p:nvSpPr>
          <p:cNvPr id="9" name="act2-shot-hint">
            <a:extLst xmlns:a="http://schemas.openxmlformats.org/drawingml/2006/main">
              <a:ext uri="{FF2B5EF4-FFF2-40B4-BE49-F238E27FC236}">
                <a16:creationId xmlns:a16="http://schemas.microsoft.com/office/drawing/2014/main" id="{784074F0-CB0E-4DEF-B442-F02A4E9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Replace with runtime screenshot</a:t>
            </a:r>
          </a:p>
        </p:txBody>
      </p:sp>
      <p:sp>
        <p:nvSpPr>
          <p:cNvPr id="10" name="act1-caption">
            <a:extLst xmlns:a="http://schemas.openxmlformats.org/drawingml/2006/main">
              <a:ext uri="{FF2B5EF4-FFF2-40B4-BE49-F238E27FC236}">
                <a16:creationId xmlns:a16="http://schemas.microsoft.com/office/drawing/2014/main" id="{03C879DF-EE93-44E5-9AA3-BFF32BA7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991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1" name="act1-caption-title">
            <a:extLst xmlns:a="http://schemas.openxmlformats.org/drawingml/2006/main">
              <a:ext uri="{FF2B5EF4-FFF2-40B4-BE49-F238E27FC236}">
                <a16:creationId xmlns:a16="http://schemas.microsoft.com/office/drawing/2014/main" id="{11C19E82-581E-433B-B146-A6192299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43B"/>
                </a:solidFill>
              </a:defRPr>
            </a:pPr>
            <a:r>
              <a:rPr sz="1500" b="1" i="0">
                <a:solidFill>
                  <a:srgbClr val="18243B"/>
                </a:solidFill>
              </a:rPr>
              <a:t>Act 1: Intent classification</a:t>
            </a:r>
          </a:p>
        </p:txBody>
      </p:sp>
      <p:sp>
        <p:nvSpPr>
          <p:cNvPr id="12" name="act1-caption-copy">
            <a:extLst xmlns:a="http://schemas.openxmlformats.org/drawingml/2006/main">
              <a:ext uri="{FF2B5EF4-FFF2-40B4-BE49-F238E27FC236}">
                <a16:creationId xmlns:a16="http://schemas.microsoft.com/office/drawing/2014/main" id="{8660D8FA-BB71-49C8-A3BF-861941E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Players group messages by purpose, then receive deterministic feedback from the validator.</a:t>
            </a:r>
          </a:p>
        </p:txBody>
      </p:sp>
      <p:sp>
        <p:nvSpPr>
          <p:cNvPr id="13" name="act2-caption">
            <a:extLst xmlns:a="http://schemas.openxmlformats.org/drawingml/2006/main">
              <a:ext uri="{FF2B5EF4-FFF2-40B4-BE49-F238E27FC236}">
                <a16:creationId xmlns:a16="http://schemas.microsoft.com/office/drawing/2014/main" id="{1B58A6EF-5384-4128-A0F2-331155F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991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4" name="act2-caption-title">
            <a:extLst xmlns:a="http://schemas.openxmlformats.org/drawingml/2006/main">
              <a:ext uri="{FF2B5EF4-FFF2-40B4-BE49-F238E27FC236}">
                <a16:creationId xmlns:a16="http://schemas.microsoft.com/office/drawing/2014/main" id="{A6BE3787-02CF-41C5-A795-61C268D0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43B"/>
                </a:solidFill>
              </a:defRPr>
            </a:pPr>
            <a:r>
              <a:rPr sz="1500" b="1" i="0">
                <a:solidFill>
                  <a:srgbClr val="18243B"/>
                </a:solidFill>
              </a:rPr>
              <a:t>Act 2: Entity extraction</a:t>
            </a:r>
          </a:p>
        </p:txBody>
      </p:sp>
      <p:sp>
        <p:nvSpPr>
          <p:cNvPr id="15" name="act2-caption-copy">
            <a:extLst xmlns:a="http://schemas.openxmlformats.org/drawingml/2006/main">
              <a:ext uri="{FF2B5EF4-FFF2-40B4-BE49-F238E27FC236}">
                <a16:creationId xmlns:a16="http://schemas.microsoft.com/office/drawing/2014/main" id="{3C4ACCCA-D788-4C88-A4B7-BE214743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667085"/>
                </a:solidFill>
              </a:defRPr>
            </a:pPr>
            <a:r>
              <a:rPr sz="1163" b="0" i="0">
                <a:solidFill>
                  <a:srgbClr val="667085"/>
                </a:solidFill>
              </a:rPr>
              <a:t>Players tag spans and entity types, including system/custom distinction and synonym cases.</a:t>
            </a:r>
          </a:p>
        </p:txBody>
      </p:sp>
      <p:sp>
        <p:nvSpPr>
          <p:cNvPr id="16" name="footer-7">
            <a:extLst xmlns:a="http://schemas.openxmlformats.org/drawingml/2006/main">
              <a:ext uri="{FF2B5EF4-FFF2-40B4-BE49-F238E27FC236}">
                <a16:creationId xmlns:a16="http://schemas.microsoft.com/office/drawing/2014/main" id="{E3C43C22-0F4E-4D7D-B8D7-752FF8B6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17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86AB5FED-F0D6-48BF-A96F-750CA4F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326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D757AE4-3023-49F1-9C87-87A1043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3A850B-F363-402E-82C2-87A554F6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DEMO 3 — Act 3 Node Graph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887596B-97AB-4284-85B8-D954FEC1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act3-shot-box">
            <a:extLst xmlns:a="http://schemas.openxmlformats.org/drawingml/2006/main">
              <a:ext uri="{FF2B5EF4-FFF2-40B4-BE49-F238E27FC236}">
                <a16:creationId xmlns:a16="http://schemas.microsoft.com/office/drawing/2014/main" id="{3CEE696B-A4B3-42C0-86B8-35C4C788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699135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E6E9EF"/>
          </a:solidFill>
          <a:ln xmlns:a="http://schemas.openxmlformats.org/drawingml/2006/main" w="11430">
            <a:solidFill>
              <a:srgbClr val="AEB5C6"/>
            </a:solidFill>
            <a:prstDash val="solid"/>
          </a:ln>
        </p:spPr>
      </p:sp>
      <p:sp>
        <p:nvSpPr>
          <p:cNvPr id="5" name="act3-shot-label">
            <a:extLst xmlns:a="http://schemas.openxmlformats.org/drawingml/2006/main">
              <a:ext uri="{FF2B5EF4-FFF2-40B4-BE49-F238E27FC236}">
                <a16:creationId xmlns:a16="http://schemas.microsoft.com/office/drawing/2014/main" id="{33368CEA-E703-40C9-B778-45C0574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645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75467"/>
                </a:solidFill>
              </a:defRPr>
            </a:pPr>
            <a:r>
              <a:rPr sz="1500" b="1" i="0">
                <a:solidFill>
                  <a:srgbClr val="475467"/>
                </a:solidFill>
              </a:rPr>
              <a:t>[Insert screenshot: Act 3 reply map with nodes/wires]</a:t>
            </a:r>
          </a:p>
        </p:txBody>
      </p:sp>
      <p:sp>
        <p:nvSpPr>
          <p:cNvPr id="6" name="act3-shot-hint">
            <a:extLst xmlns:a="http://schemas.openxmlformats.org/drawingml/2006/main">
              <a:ext uri="{FF2B5EF4-FFF2-40B4-BE49-F238E27FC236}">
                <a16:creationId xmlns:a16="http://schemas.microsoft.com/office/drawing/2014/main" id="{B9D9CF9C-1CC5-4A26-B1CD-9C9C2056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645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Replace with runtime screenshot</a:t>
            </a:r>
          </a:p>
        </p:txBody>
      </p:sp>
      <p:sp>
        <p:nvSpPr>
          <p:cNvPr id="7" name="act3-notes">
            <a:extLst xmlns:a="http://schemas.openxmlformats.org/drawingml/2006/main">
              <a:ext uri="{FF2B5EF4-FFF2-40B4-BE49-F238E27FC236}">
                <a16:creationId xmlns:a16="http://schemas.microsoft.com/office/drawing/2014/main" id="{C4D5500C-4667-4098-8B71-C879EB0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3219450" cy="403860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8" name="act3-notes-title">
            <a:extLst xmlns:a="http://schemas.openxmlformats.org/drawingml/2006/main">
              <a:ext uri="{FF2B5EF4-FFF2-40B4-BE49-F238E27FC236}">
                <a16:creationId xmlns:a16="http://schemas.microsoft.com/office/drawing/2014/main" id="{7F54F81B-D15C-47BD-B7EB-EA907C8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43B"/>
                </a:solidFill>
              </a:defRPr>
            </a:pPr>
            <a:r>
              <a:rPr sz="1800" b="1" i="0">
                <a:solidFill>
                  <a:srgbClr val="18243B"/>
                </a:solidFill>
              </a:rPr>
              <a:t>Reply-map gameplay</a:t>
            </a:r>
          </a:p>
        </p:txBody>
      </p:sp>
      <p:sp>
        <p:nvSpPr>
          <p:cNvPr id="9" name="act3-bullets-0">
            <a:extLst xmlns:a="http://schemas.openxmlformats.org/drawingml/2006/main">
              <a:ext uri="{FF2B5EF4-FFF2-40B4-BE49-F238E27FC236}">
                <a16:creationId xmlns:a16="http://schemas.microsoft.com/office/drawing/2014/main" id="{0AD099BB-E36D-475A-9BD9-650A5B1B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Drag cards from palette to canvas.</a:t>
            </a:r>
          </a:p>
        </p:txBody>
      </p:sp>
      <p:sp>
        <p:nvSpPr>
          <p:cNvPr id="10" name="act3-bullets-1">
            <a:extLst xmlns:a="http://schemas.openxmlformats.org/drawingml/2006/main">
              <a:ext uri="{FF2B5EF4-FFF2-40B4-BE49-F238E27FC236}">
                <a16:creationId xmlns:a16="http://schemas.microsoft.com/office/drawing/2014/main" id="{EC216457-839C-44B8-838D-05E95E71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Connect ports with straight wires.</a:t>
            </a:r>
          </a:p>
        </p:txBody>
      </p:sp>
      <p:sp>
        <p:nvSpPr>
          <p:cNvPr id="11" name="act3-bullets-2">
            <a:extLst xmlns:a="http://schemas.openxmlformats.org/drawingml/2006/main">
              <a:ext uri="{FF2B5EF4-FFF2-40B4-BE49-F238E27FC236}">
                <a16:creationId xmlns:a16="http://schemas.microsoft.com/office/drawing/2014/main" id="{0FCFA93C-8D45-4D75-A8CD-98982E0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Test Ghost’s map with target cases.</a:t>
            </a:r>
          </a:p>
        </p:txBody>
      </p:sp>
      <p:sp>
        <p:nvSpPr>
          <p:cNvPr id="12" name="act3-bullets-3">
            <a:extLst xmlns:a="http://schemas.openxmlformats.org/drawingml/2006/main">
              <a:ext uri="{FF2B5EF4-FFF2-40B4-BE49-F238E27FC236}">
                <a16:creationId xmlns:a16="http://schemas.microsoft.com/office/drawing/2014/main" id="{1E4DE3F5-B2DF-4D31-BD5E-5E35491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956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Success/failure changes Ghost’s reaction.</a:t>
            </a:r>
          </a:p>
        </p:txBody>
      </p:sp>
      <p:sp>
        <p:nvSpPr>
          <p:cNvPr id="13" name="act3-bullets-4">
            <a:extLst xmlns:a="http://schemas.openxmlformats.org/drawingml/2006/main">
              <a:ext uri="{FF2B5EF4-FFF2-40B4-BE49-F238E27FC236}">
                <a16:creationId xmlns:a16="http://schemas.microsoft.com/office/drawing/2014/main" id="{A3579F4D-790B-4669-954A-84D640D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Trash / Delete removes nodes or wires.</a:t>
            </a:r>
          </a:p>
        </p:txBody>
      </p:sp>
      <p:sp>
        <p:nvSpPr>
          <p:cNvPr id="14" name="footer-8">
            <a:extLst xmlns:a="http://schemas.openxmlformats.org/drawingml/2006/main">
              <a:ext uri="{FF2B5EF4-FFF2-40B4-BE49-F238E27FC236}">
                <a16:creationId xmlns:a16="http://schemas.microsoft.com/office/drawing/2014/main" id="{107409B2-0B87-42AA-ABEF-7D6169E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71524FCF-413F-4073-BE39-F9C169F6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0784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35A84BA-87A3-4C5A-90FA-DC22593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52264B-42A7-49D0-8B9B-F2D909D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System Architecture: Planned vs Implemented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46650F-8F3E-4A6B-944C-74BB444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arch-box-0">
            <a:extLst xmlns:a="http://schemas.openxmlformats.org/drawingml/2006/main">
              <a:ext uri="{FF2B5EF4-FFF2-40B4-BE49-F238E27FC236}">
                <a16:creationId xmlns:a16="http://schemas.microsoft.com/office/drawing/2014/main" id="{C2622792-0D30-4169-A705-55211EF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924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arch-head-0">
            <a:extLst xmlns:a="http://schemas.openxmlformats.org/drawingml/2006/main">
              <a:ext uri="{FF2B5EF4-FFF2-40B4-BE49-F238E27FC236}">
                <a16:creationId xmlns:a16="http://schemas.microsoft.com/office/drawing/2014/main" id="{D59E21D8-7801-44D1-B9F8-52AFCEF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Unity WebGL Client</a:t>
            </a:r>
          </a:p>
        </p:txBody>
      </p:sp>
      <p:sp>
        <p:nvSpPr>
          <p:cNvPr id="6" name="arch-body-0">
            <a:extLst xmlns:a="http://schemas.openxmlformats.org/drawingml/2006/main">
              <a:ext uri="{FF2B5EF4-FFF2-40B4-BE49-F238E27FC236}">
                <a16:creationId xmlns:a16="http://schemas.microsoft.com/office/drawing/2014/main" id="{C5AFB093-2CFC-49FB-ADC1-D95BE3A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Shell + Acts 1–3</a:t>
            </a:r>
          </a:p>
        </p:txBody>
      </p:sp>
      <p:sp>
        <p:nvSpPr>
          <p:cNvPr id="7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130432E8-AC18-4BFF-B458-779F862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769D8"/>
                </a:solidFill>
              </a:defRPr>
            </a:pPr>
            <a:r>
              <a:rPr sz="225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8" name="arch-box-1">
            <a:extLst xmlns:a="http://schemas.openxmlformats.org/drawingml/2006/main">
              <a:ext uri="{FF2B5EF4-FFF2-40B4-BE49-F238E27FC236}">
                <a16:creationId xmlns:a16="http://schemas.microsoft.com/office/drawing/2014/main" id="{F93112A7-5444-4693-ADAD-DAFCF909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1924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9" name="arch-head-1">
            <a:extLst xmlns:a="http://schemas.openxmlformats.org/drawingml/2006/main">
              <a:ext uri="{FF2B5EF4-FFF2-40B4-BE49-F238E27FC236}">
                <a16:creationId xmlns:a16="http://schemas.microsoft.com/office/drawing/2014/main" id="{2E431D41-2E41-4910-A66E-4A72311F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Deterministic Logic</a:t>
            </a:r>
          </a:p>
        </p:txBody>
      </p:sp>
      <p:sp>
        <p:nvSpPr>
          <p:cNvPr id="10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6FF372A-718B-497D-B3DC-34D7F25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validators + graph simulator</a:t>
            </a:r>
          </a:p>
        </p:txBody>
      </p:sp>
      <p:sp>
        <p:nvSpPr>
          <p:cNvPr id="11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5064ED87-2763-4884-BEA1-1D77743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193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769D8"/>
                </a:solidFill>
              </a:defRPr>
            </a:pPr>
            <a:r>
              <a:rPr sz="225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12" name="arch-box-2">
            <a:extLst xmlns:a="http://schemas.openxmlformats.org/drawingml/2006/main">
              <a:ext uri="{FF2B5EF4-FFF2-40B4-BE49-F238E27FC236}">
                <a16:creationId xmlns:a16="http://schemas.microsoft.com/office/drawing/2014/main" id="{79447AF0-84E8-4612-852F-BDDE8CA7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00250"/>
            <a:ext cx="1924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3" name="arch-head-2">
            <a:extLst xmlns:a="http://schemas.openxmlformats.org/drawingml/2006/main">
              <a:ext uri="{FF2B5EF4-FFF2-40B4-BE49-F238E27FC236}">
                <a16:creationId xmlns:a16="http://schemas.microsoft.com/office/drawing/2014/main" id="{6BB70854-C6A0-4BB6-B4E1-C3F62E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Node.js / TS REST</a:t>
            </a:r>
          </a:p>
        </p:txBody>
      </p:sp>
      <p:sp>
        <p:nvSpPr>
          <p:cNvPr id="14" name="arch-body-2">
            <a:extLst xmlns:a="http://schemas.openxmlformats.org/drawingml/2006/main">
              <a:ext uri="{FF2B5EF4-FFF2-40B4-BE49-F238E27FC236}">
                <a16:creationId xmlns:a16="http://schemas.microsoft.com/office/drawing/2014/main" id="{641EFD78-22D9-4F59-A5BD-D34BAA1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90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content, progress, attempts</a:t>
            </a:r>
          </a:p>
        </p:txBody>
      </p:sp>
      <p:sp>
        <p:nvSpPr>
          <p:cNvPr id="15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547E3A7E-B99B-4532-AB96-40555DC5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193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769D8"/>
                </a:solidFill>
              </a:defRPr>
            </a:pPr>
            <a:r>
              <a:rPr sz="2250" b="1" i="0">
                <a:solidFill>
                  <a:srgbClr val="4769D8"/>
                </a:solidFill>
              </a:rPr>
              <a:t>→</a:t>
            </a:r>
          </a:p>
        </p:txBody>
      </p:sp>
      <p:sp>
        <p:nvSpPr>
          <p:cNvPr id="16" name="arch-box-3">
            <a:extLst xmlns:a="http://schemas.openxmlformats.org/drawingml/2006/main">
              <a:ext uri="{FF2B5EF4-FFF2-40B4-BE49-F238E27FC236}">
                <a16:creationId xmlns:a16="http://schemas.microsoft.com/office/drawing/2014/main" id="{1EA70F33-8D72-464B-9794-D57888AF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924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7" name="arch-head-3">
            <a:extLst xmlns:a="http://schemas.openxmlformats.org/drawingml/2006/main">
              <a:ext uri="{FF2B5EF4-FFF2-40B4-BE49-F238E27FC236}">
                <a16:creationId xmlns:a16="http://schemas.microsoft.com/office/drawing/2014/main" id="{5520CEF4-1A07-47C3-9A5F-65A1E36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SQLite Database</a:t>
            </a:r>
          </a:p>
        </p:txBody>
      </p:sp>
      <p:sp>
        <p:nvSpPr>
          <p:cNvPr id="18" name="arch-body-3">
            <a:extLst xmlns:a="http://schemas.openxmlformats.org/drawingml/2006/main">
              <a:ext uri="{FF2B5EF4-FFF2-40B4-BE49-F238E27FC236}">
                <a16:creationId xmlns:a16="http://schemas.microsoft.com/office/drawing/2014/main" id="{45849EE7-9F89-45BA-9D09-635DDFA7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local prototype store</a:t>
            </a:r>
          </a:p>
        </p:txBody>
      </p:sp>
      <p:sp>
        <p:nvSpPr>
          <p:cNvPr id="19" name="future-llm">
            <a:extLst xmlns:a="http://schemas.openxmlformats.org/drawingml/2006/main">
              <a:ext uri="{FF2B5EF4-FFF2-40B4-BE49-F238E27FC236}">
                <a16:creationId xmlns:a16="http://schemas.microsoft.com/office/drawing/2014/main" id="{5DF56BCA-047C-4F57-BE9A-2BA0B12E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86200"/>
            <a:ext cx="1924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7DC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20" name="future-llm-title">
            <a:extLst xmlns:a="http://schemas.openxmlformats.org/drawingml/2006/main">
              <a:ext uri="{FF2B5EF4-FFF2-40B4-BE49-F238E27FC236}">
                <a16:creationId xmlns:a16="http://schemas.microsoft.com/office/drawing/2014/main" id="{76DA5202-1936-47D2-9998-94CAE65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243B"/>
                </a:solidFill>
              </a:defRPr>
            </a:pPr>
            <a:r>
              <a:rPr sz="1275" b="1" i="0">
                <a:solidFill>
                  <a:srgbClr val="18243B"/>
                </a:solidFill>
              </a:rPr>
              <a:t>Future LLM layer</a:t>
            </a:r>
          </a:p>
        </p:txBody>
      </p:sp>
      <p:sp>
        <p:nvSpPr>
          <p:cNvPr id="21" name="future-llm-copy">
            <a:extLst xmlns:a="http://schemas.openxmlformats.org/drawingml/2006/main">
              <a:ext uri="{FF2B5EF4-FFF2-40B4-BE49-F238E27FC236}">
                <a16:creationId xmlns:a16="http://schemas.microsoft.com/office/drawing/2014/main" id="{CAA58C09-DE47-4A09-AEA2-7B834932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005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667085"/>
                </a:solidFill>
              </a:defRPr>
            </a:pPr>
            <a:r>
              <a:rPr sz="1013" b="0" i="0">
                <a:solidFill>
                  <a:srgbClr val="667085"/>
                </a:solidFill>
              </a:rPr>
              <a:t>hints, explanations, response variation</a:t>
            </a:r>
          </a:p>
        </p:txBody>
      </p:sp>
      <p:sp>
        <p:nvSpPr>
          <p:cNvPr id="22" name="future-arrow">
            <a:extLst xmlns:a="http://schemas.openxmlformats.org/drawingml/2006/main">
              <a:ext uri="{FF2B5EF4-FFF2-40B4-BE49-F238E27FC236}">
                <a16:creationId xmlns:a16="http://schemas.microsoft.com/office/drawing/2014/main" id="{BE83145B-61A2-4F19-AC0E-51346D4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↑</a:t>
            </a:r>
          </a:p>
        </p:txBody>
      </p:sp>
      <p:sp>
        <p:nvSpPr>
          <p:cNvPr id="23" name="implemented-list">
            <a:extLst xmlns:a="http://schemas.openxmlformats.org/drawingml/2006/main">
              <a:ext uri="{FF2B5EF4-FFF2-40B4-BE49-F238E27FC236}">
                <a16:creationId xmlns:a16="http://schemas.microsoft.com/office/drawing/2014/main" id="{0327A2FF-D857-4BE5-80CB-3642D88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4648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4" name="impl-title">
            <a:extLst xmlns:a="http://schemas.openxmlformats.org/drawingml/2006/main">
              <a:ext uri="{FF2B5EF4-FFF2-40B4-BE49-F238E27FC236}">
                <a16:creationId xmlns:a16="http://schemas.microsoft.com/office/drawing/2014/main" id="{2B857AC3-441A-4FB4-9462-5A4A1E2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6534"/>
                </a:solidFill>
              </a:defRPr>
            </a:pPr>
            <a:r>
              <a:rPr sz="1275" b="1" i="0">
                <a:solidFill>
                  <a:srgbClr val="166534"/>
                </a:solidFill>
              </a:rPr>
              <a:t>Implemented</a:t>
            </a:r>
          </a:p>
        </p:txBody>
      </p:sp>
      <p:sp>
        <p:nvSpPr>
          <p:cNvPr id="25" name="impl-copy">
            <a:extLst xmlns:a="http://schemas.openxmlformats.org/drawingml/2006/main">
              <a:ext uri="{FF2B5EF4-FFF2-40B4-BE49-F238E27FC236}">
                <a16:creationId xmlns:a16="http://schemas.microsoft.com/office/drawing/2014/main" id="{7ED0F4B5-DB08-4F4A-A550-3D19E87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530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67085"/>
                </a:solidFill>
              </a:defRPr>
            </a:pPr>
            <a:r>
              <a:rPr sz="1088" b="0" i="0">
                <a:solidFill>
                  <a:srgbClr val="667085"/>
                </a:solidFill>
              </a:rPr>
              <a:t>Acts 1–3 · Game Shell/narrative · backend REST service · SQLite schema · client sync</a:t>
            </a:r>
          </a:p>
        </p:txBody>
      </p:sp>
      <p:sp>
        <p:nvSpPr>
          <p:cNvPr id="26" name="future-list">
            <a:extLst xmlns:a="http://schemas.openxmlformats.org/drawingml/2006/main">
              <a:ext uri="{FF2B5EF4-FFF2-40B4-BE49-F238E27FC236}">
                <a16:creationId xmlns:a16="http://schemas.microsoft.com/office/drawing/2014/main" id="{896C585B-C0D9-47AA-B4A9-3093E75C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4648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27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A094E000-BF0B-4A10-AD95-B2102748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2400E"/>
                </a:solidFill>
              </a:defRPr>
            </a:pPr>
            <a:r>
              <a:rPr sz="1275" b="1" i="0">
                <a:solidFill>
                  <a:srgbClr val="92400E"/>
                </a:solidFill>
              </a:rPr>
              <a:t>Future</a:t>
            </a:r>
          </a:p>
        </p:txBody>
      </p:sp>
      <p:sp>
        <p:nvSpPr>
          <p:cNvPr id="28" name="future-copy">
            <a:extLst xmlns:a="http://schemas.openxmlformats.org/drawingml/2006/main">
              <a:ext uri="{FF2B5EF4-FFF2-40B4-BE49-F238E27FC236}">
                <a16:creationId xmlns:a16="http://schemas.microsoft.com/office/drawing/2014/main" id="{0A11AE47-CA98-4305-9FE9-1B480FA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5305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67085"/>
                </a:solidFill>
              </a:defRPr>
            </a:pPr>
            <a:r>
              <a:rPr sz="1088" b="0" i="0">
                <a:solidFill>
                  <a:srgbClr val="667085"/>
                </a:solidFill>
              </a:rPr>
              <a:t>LLM hints/Ghost responses · Acts 4–8 graph extensions and capstone</a:t>
            </a:r>
          </a:p>
        </p:txBody>
      </p:sp>
      <p:sp>
        <p:nvSpPr>
          <p:cNvPr id="29" name="footer-9">
            <a:extLst xmlns:a="http://schemas.openxmlformats.org/drawingml/2006/main">
              <a:ext uri="{FF2B5EF4-FFF2-40B4-BE49-F238E27FC236}">
                <a16:creationId xmlns:a16="http://schemas.microsoft.com/office/drawing/2014/main" id="{5D31CF12-CD08-4C01-B651-A8F0488B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30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EA662FF7-FE95-4DC7-BF1C-C8370DB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8350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32F96E9-7BF1-4ACF-A9AC-6A45160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F0ED69-9820-4577-AE05-EEA0FE3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Development Progress &amp; Evidence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B800B1-7D83-41E4-BB9C-F275366C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progress-table">
            <a:extLst xmlns:a="http://schemas.openxmlformats.org/drawingml/2006/main">
              <a:ext uri="{FF2B5EF4-FFF2-40B4-BE49-F238E27FC236}">
                <a16:creationId xmlns:a16="http://schemas.microsoft.com/office/drawing/2014/main" id="{84EEB181-14CD-40C0-9569-7E7410F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table-h1">
            <a:extLst xmlns:a="http://schemas.openxmlformats.org/drawingml/2006/main">
              <a:ext uri="{FF2B5EF4-FFF2-40B4-BE49-F238E27FC236}">
                <a16:creationId xmlns:a16="http://schemas.microsoft.com/office/drawing/2014/main" id="{B2F159CC-8602-4A97-943D-B3E0FAF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69D8"/>
                </a:solidFill>
              </a:defRPr>
            </a:pPr>
            <a:r>
              <a:rPr sz="1200" b="1" i="0">
                <a:solidFill>
                  <a:srgbClr val="4769D8"/>
                </a:solidFill>
              </a:rPr>
              <a:t>Area</a:t>
            </a:r>
          </a:p>
        </p:txBody>
      </p:sp>
      <p:sp>
        <p:nvSpPr>
          <p:cNvPr id="6" name="table-h2">
            <a:extLst xmlns:a="http://schemas.openxmlformats.org/drawingml/2006/main">
              <a:ext uri="{FF2B5EF4-FFF2-40B4-BE49-F238E27FC236}">
                <a16:creationId xmlns:a16="http://schemas.microsoft.com/office/drawing/2014/main" id="{970AA425-EE42-474D-886D-528930FB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69D8"/>
                </a:solidFill>
              </a:defRPr>
            </a:pPr>
            <a:r>
              <a:rPr sz="1200" b="1" i="0">
                <a:solidFill>
                  <a:srgbClr val="4769D8"/>
                </a:solidFill>
              </a:rPr>
              <a:t>Evidence</a:t>
            </a:r>
          </a:p>
        </p:txBody>
      </p:sp>
      <p:sp>
        <p:nvSpPr>
          <p:cNvPr id="7" name="row-line-0">
            <a:extLst xmlns:a="http://schemas.openxmlformats.org/drawingml/2006/main">
              <a:ext uri="{FF2B5EF4-FFF2-40B4-BE49-F238E27FC236}">
                <a16:creationId xmlns:a16="http://schemas.microsoft.com/office/drawing/2014/main" id="{E95CFEC1-CA5E-4B81-A430-CC35416C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EEF2F7"/>
            </a:solidFill>
            <a:prstDash val="solid"/>
          </a:ln>
        </p:spPr>
      </p:sp>
      <p:sp>
        <p:nvSpPr>
          <p:cNvPr id="8" name="row-area-0">
            <a:extLst xmlns:a="http://schemas.openxmlformats.org/drawingml/2006/main">
              <a:ext uri="{FF2B5EF4-FFF2-40B4-BE49-F238E27FC236}">
                <a16:creationId xmlns:a16="http://schemas.microsoft.com/office/drawing/2014/main" id="{77EFE064-11D5-4830-A9B1-0B701378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Frontend gameplay</a:t>
            </a:r>
          </a:p>
        </p:txBody>
      </p:sp>
      <p:sp>
        <p:nvSpPr>
          <p:cNvPr id="9" name="row-evidence-0">
            <a:extLst xmlns:a="http://schemas.openxmlformats.org/drawingml/2006/main">
              <a:ext uri="{FF2B5EF4-FFF2-40B4-BE49-F238E27FC236}">
                <a16:creationId xmlns:a16="http://schemas.microsoft.com/office/drawing/2014/main" id="{BA0CCB37-5726-481B-988C-61EC96D2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Acts 1–3 playable prototype surfaces</a:t>
            </a:r>
          </a:p>
        </p:txBody>
      </p:sp>
      <p:sp>
        <p:nvSpPr>
          <p:cNvPr id="10" name="row-line-1">
            <a:extLst xmlns:a="http://schemas.openxmlformats.org/drawingml/2006/main">
              <a:ext uri="{FF2B5EF4-FFF2-40B4-BE49-F238E27FC236}">
                <a16:creationId xmlns:a16="http://schemas.microsoft.com/office/drawing/2014/main" id="{513182EE-2D3E-4380-81FD-8379BA5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EEF2F7"/>
            </a:solidFill>
            <a:prstDash val="solid"/>
          </a:ln>
        </p:spPr>
      </p:sp>
      <p:sp>
        <p:nvSpPr>
          <p:cNvPr id="11" name="row-area-1">
            <a:extLst xmlns:a="http://schemas.openxmlformats.org/drawingml/2006/main">
              <a:ext uri="{FF2B5EF4-FFF2-40B4-BE49-F238E27FC236}">
                <a16:creationId xmlns:a16="http://schemas.microsoft.com/office/drawing/2014/main" id="{5AD900C1-3C67-4833-8DAA-4C57148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Pure logic/tests</a:t>
            </a:r>
          </a:p>
        </p:txBody>
      </p:sp>
      <p:sp>
        <p:nvSpPr>
          <p:cNvPr id="12" name="row-evidence-1">
            <a:extLst xmlns:a="http://schemas.openxmlformats.org/drawingml/2006/main">
              <a:ext uri="{FF2B5EF4-FFF2-40B4-BE49-F238E27FC236}">
                <a16:creationId xmlns:a16="http://schemas.microsoft.com/office/drawing/2014/main" id="{D663E5DE-4E85-4F96-A676-6498957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Validators and session layers implemented</a:t>
            </a:r>
          </a:p>
        </p:txBody>
      </p:sp>
      <p:sp>
        <p:nvSpPr>
          <p:cNvPr id="13" name="row-line-2">
            <a:extLst xmlns:a="http://schemas.openxmlformats.org/drawingml/2006/main">
              <a:ext uri="{FF2B5EF4-FFF2-40B4-BE49-F238E27FC236}">
                <a16:creationId xmlns:a16="http://schemas.microsoft.com/office/drawing/2014/main" id="{9DC05BDC-5195-4926-A799-53BEFEA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EEF2F7"/>
            </a:solidFill>
            <a:prstDash val="solid"/>
          </a:ln>
        </p:spPr>
      </p:sp>
      <p:sp>
        <p:nvSpPr>
          <p:cNvPr id="14" name="row-area-2">
            <a:extLst xmlns:a="http://schemas.openxmlformats.org/drawingml/2006/main">
              <a:ext uri="{FF2B5EF4-FFF2-40B4-BE49-F238E27FC236}">
                <a16:creationId xmlns:a16="http://schemas.microsoft.com/office/drawing/2014/main" id="{531A63F3-AF7B-41C6-89BD-499824F1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Narrative</a:t>
            </a:r>
          </a:p>
        </p:txBody>
      </p:sp>
      <p:sp>
        <p:nvSpPr>
          <p:cNvPr id="15" name="row-evidence-2">
            <a:extLst xmlns:a="http://schemas.openxmlformats.org/drawingml/2006/main">
              <a:ext uri="{FF2B5EF4-FFF2-40B4-BE49-F238E27FC236}">
                <a16:creationId xmlns:a16="http://schemas.microsoft.com/office/drawing/2014/main" id="{AC11AEEA-FF34-4ACD-8EF4-45D18BA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Shell flow + in-act banter data</a:t>
            </a:r>
          </a:p>
        </p:txBody>
      </p:sp>
      <p:sp>
        <p:nvSpPr>
          <p:cNvPr id="16" name="row-line-3">
            <a:extLst xmlns:a="http://schemas.openxmlformats.org/drawingml/2006/main">
              <a:ext uri="{FF2B5EF4-FFF2-40B4-BE49-F238E27FC236}">
                <a16:creationId xmlns:a16="http://schemas.microsoft.com/office/drawing/2014/main" id="{2F6CA163-0B5A-4FBC-BE78-A7833C7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EEF2F7"/>
            </a:solidFill>
            <a:prstDash val="solid"/>
          </a:ln>
        </p:spPr>
      </p:sp>
      <p:sp>
        <p:nvSpPr>
          <p:cNvPr id="17" name="row-area-3">
            <a:extLst xmlns:a="http://schemas.openxmlformats.org/drawingml/2006/main">
              <a:ext uri="{FF2B5EF4-FFF2-40B4-BE49-F238E27FC236}">
                <a16:creationId xmlns:a16="http://schemas.microsoft.com/office/drawing/2014/main" id="{90E5A866-79FB-475E-9F15-CE80975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Backend</a:t>
            </a:r>
          </a:p>
        </p:txBody>
      </p:sp>
      <p:sp>
        <p:nvSpPr>
          <p:cNvPr id="18" name="row-evidence-3">
            <a:extLst xmlns:a="http://schemas.openxmlformats.org/drawingml/2006/main">
              <a:ext uri="{FF2B5EF4-FFF2-40B4-BE49-F238E27FC236}">
                <a16:creationId xmlns:a16="http://schemas.microsoft.com/office/drawing/2014/main" id="{C52950E2-E1B1-4A5D-94AB-9C72006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content/profile/progress/attempt endpoints</a:t>
            </a:r>
          </a:p>
        </p:txBody>
      </p:sp>
      <p:sp>
        <p:nvSpPr>
          <p:cNvPr id="19" name="row-line-4">
            <a:extLst xmlns:a="http://schemas.openxmlformats.org/drawingml/2006/main">
              <a:ext uri="{FF2B5EF4-FFF2-40B4-BE49-F238E27FC236}">
                <a16:creationId xmlns:a16="http://schemas.microsoft.com/office/drawing/2014/main" id="{9C784996-6E81-4DAF-A8C2-B7E3AEC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1430">
            <a:solidFill>
              <a:srgbClr val="EEF2F7"/>
            </a:solidFill>
            <a:prstDash val="solid"/>
          </a:ln>
        </p:spPr>
      </p:sp>
      <p:sp>
        <p:nvSpPr>
          <p:cNvPr id="20" name="row-area-4">
            <a:extLst xmlns:a="http://schemas.openxmlformats.org/drawingml/2006/main">
              <a:ext uri="{FF2B5EF4-FFF2-40B4-BE49-F238E27FC236}">
                <a16:creationId xmlns:a16="http://schemas.microsoft.com/office/drawing/2014/main" id="{9D4784C5-C508-4843-B231-FF286767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43B"/>
                </a:solidFill>
              </a:defRPr>
            </a:pPr>
            <a:r>
              <a:rPr sz="1200" b="1" i="0">
                <a:solidFill>
                  <a:srgbClr val="18243B"/>
                </a:solidFill>
              </a:rPr>
              <a:t>Client integration</a:t>
            </a:r>
          </a:p>
        </p:txBody>
      </p:sp>
      <p:sp>
        <p:nvSpPr>
          <p:cNvPr id="21" name="row-evidence-4">
            <a:extLst xmlns:a="http://schemas.openxmlformats.org/drawingml/2006/main">
              <a:ext uri="{FF2B5EF4-FFF2-40B4-BE49-F238E27FC236}">
                <a16:creationId xmlns:a16="http://schemas.microsoft.com/office/drawing/2014/main" id="{4F88872E-7D1D-4B8B-8858-1707C8F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wired with graceful degradation; Unity verification pending</a:t>
            </a:r>
          </a:p>
        </p:txBody>
      </p:sp>
      <p:sp>
        <p:nvSpPr>
          <p:cNvPr id="22" name="backend-evidence-box">
            <a:extLst xmlns:a="http://schemas.openxmlformats.org/drawingml/2006/main">
              <a:ext uri="{FF2B5EF4-FFF2-40B4-BE49-F238E27FC236}">
                <a16:creationId xmlns:a16="http://schemas.microsoft.com/office/drawing/2014/main" id="{308B9C7B-A8F4-444A-A0F0-273F19EA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0"/>
            <a:ext cx="36766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6E9EF"/>
          </a:solidFill>
          <a:ln xmlns:a="http://schemas.openxmlformats.org/drawingml/2006/main" w="11430">
            <a:solidFill>
              <a:srgbClr val="AEB5C6"/>
            </a:solidFill>
            <a:prstDash val="solid"/>
          </a:ln>
        </p:spPr>
      </p:sp>
      <p:sp>
        <p:nvSpPr>
          <p:cNvPr id="23" name="backend-evidence-label">
            <a:extLst xmlns:a="http://schemas.openxmlformats.org/drawingml/2006/main">
              <a:ext uri="{FF2B5EF4-FFF2-40B4-BE49-F238E27FC236}">
                <a16:creationId xmlns:a16="http://schemas.microsoft.com/office/drawing/2014/main" id="{AA2C3932-0840-4257-82F9-46E56FDA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75467"/>
                </a:solidFill>
              </a:defRPr>
            </a:pPr>
            <a:r>
              <a:rPr sz="1500" b="1" i="0">
                <a:solidFill>
                  <a:srgbClr val="475467"/>
                </a:solidFill>
              </a:rPr>
              <a:t>[Insert screenshot: npm build/test output or SQLite attempts table]</a:t>
            </a:r>
          </a:p>
        </p:txBody>
      </p:sp>
      <p:sp>
        <p:nvSpPr>
          <p:cNvPr id="24" name="backend-evidence-hint">
            <a:extLst xmlns:a="http://schemas.openxmlformats.org/drawingml/2006/main">
              <a:ext uri="{FF2B5EF4-FFF2-40B4-BE49-F238E27FC236}">
                <a16:creationId xmlns:a16="http://schemas.microsoft.com/office/drawing/2014/main" id="{FE336A51-D3B0-43B4-B399-F7746A2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085"/>
                </a:solidFill>
              </a:defRPr>
            </a:pPr>
            <a:r>
              <a:rPr sz="1050" b="0" i="1">
                <a:solidFill>
                  <a:srgbClr val="667085"/>
                </a:solidFill>
              </a:rPr>
              <a:t>Replace with runtime screenshot</a:t>
            </a:r>
          </a:p>
        </p:txBody>
      </p:sp>
      <p:sp>
        <p:nvSpPr>
          <p:cNvPr id="25" name="verification-note">
            <a:extLst xmlns:a="http://schemas.openxmlformats.org/drawingml/2006/main">
              <a:ext uri="{FF2B5EF4-FFF2-40B4-BE49-F238E27FC236}">
                <a16:creationId xmlns:a16="http://schemas.microsoft.com/office/drawing/2014/main" id="{216E398D-6FBF-4A3F-BE9C-E433D9C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19550"/>
            <a:ext cx="36766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DC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26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33A24240-7C1B-48FE-9CC4-2F7EE09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43B"/>
                </a:solidFill>
              </a:defRPr>
            </a:pPr>
            <a:r>
              <a:rPr sz="1350" b="1" i="0">
                <a:solidFill>
                  <a:srgbClr val="18243B"/>
                </a:solidFill>
              </a:rPr>
              <a:t>Important evidence boundary</a:t>
            </a:r>
          </a:p>
        </p:txBody>
      </p:sp>
      <p:sp>
        <p:nvSpPr>
          <p:cNvPr id="27" name="verification-copy">
            <a:extLst xmlns:a="http://schemas.openxmlformats.org/drawingml/2006/main">
              <a:ext uri="{FF2B5EF4-FFF2-40B4-BE49-F238E27FC236}">
                <a16:creationId xmlns:a16="http://schemas.microsoft.com/office/drawing/2014/main" id="{03D28318-0A1B-4395-A374-E0C54F4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101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Backend build/tests were run in Codex. Unity Play Mode and backend-up/down checks still need human Editor verification.</a:t>
            </a:r>
          </a:p>
        </p:txBody>
      </p:sp>
      <p:sp>
        <p:nvSpPr>
          <p:cNvPr id="28" name="footer-10">
            <a:extLst xmlns:a="http://schemas.openxmlformats.org/drawingml/2006/main">
              <a:ext uri="{FF2B5EF4-FFF2-40B4-BE49-F238E27FC236}">
                <a16:creationId xmlns:a16="http://schemas.microsoft.com/office/drawing/2014/main" id="{27E25725-8F21-4E1C-BE88-824D4C7F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29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1857CCC5-47F6-406F-9595-6625916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8926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9CFE96B-FCBB-4973-A969-7D0309E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769D8"/>
                </a:solidFill>
              </a:defRPr>
            </a:pPr>
            <a:r>
              <a:rPr sz="900" b="1" i="0">
                <a:solidFill>
                  <a:srgbClr val="4769D8"/>
                </a:solidFill>
              </a:rPr>
              <a:t>4TH GROUP MEETING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7841B1-13A8-4CB3-8B7E-EC6B5F8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8243B"/>
                </a:solidFill>
              </a:defRPr>
            </a:pPr>
            <a:r>
              <a:rPr sz="2700" b="1" i="0">
                <a:solidFill>
                  <a:srgbClr val="18243B"/>
                </a:solidFill>
              </a:rPr>
              <a:t>Next Tasks &amp; Discussion Points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49656D7-0F13-478F-A9B5-A15C5ED5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11430">
            <a:solidFill>
              <a:srgbClr val="FFF1B8"/>
            </a:solidFill>
            <a:prstDash val="solid"/>
          </a:ln>
        </p:spPr>
      </p:sp>
      <p:sp>
        <p:nvSpPr>
          <p:cNvPr id="4" name="next-box">
            <a:extLst xmlns:a="http://schemas.openxmlformats.org/drawingml/2006/main">
              <a:ext uri="{FF2B5EF4-FFF2-40B4-BE49-F238E27FC236}">
                <a16:creationId xmlns:a16="http://schemas.microsoft.com/office/drawing/2014/main" id="{B5B9566D-9EBE-4B2E-BAD3-67EB48D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50482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5" name="next-title">
            <a:extLst xmlns:a="http://schemas.openxmlformats.org/drawingml/2006/main">
              <a:ext uri="{FF2B5EF4-FFF2-40B4-BE49-F238E27FC236}">
                <a16:creationId xmlns:a16="http://schemas.microsoft.com/office/drawing/2014/main" id="{60EABE85-7C2E-4E6B-895B-776EFF8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43B"/>
                </a:solidFill>
              </a:defRPr>
            </a:pPr>
            <a:r>
              <a:rPr sz="1800" b="1" i="0">
                <a:solidFill>
                  <a:srgbClr val="18243B"/>
                </a:solidFill>
              </a:rPr>
              <a:t>Before next individual meeting</a:t>
            </a:r>
          </a:p>
        </p:txBody>
      </p:sp>
      <p:sp>
        <p:nvSpPr>
          <p:cNvPr id="6" name="next-bullets-0">
            <a:extLst xmlns:a="http://schemas.openxmlformats.org/drawingml/2006/main">
              <a:ext uri="{FF2B5EF4-FFF2-40B4-BE49-F238E27FC236}">
                <a16:creationId xmlns:a16="http://schemas.microsoft.com/office/drawing/2014/main" id="{68C79428-DCD3-43AE-AFB9-E3E5C7C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Verify M0-T28 in Unity with backend up/down.</a:t>
            </a:r>
          </a:p>
        </p:txBody>
      </p:sp>
      <p:sp>
        <p:nvSpPr>
          <p:cNvPr id="7" name="next-bullets-1">
            <a:extLst xmlns:a="http://schemas.openxmlformats.org/drawingml/2006/main">
              <a:ext uri="{FF2B5EF4-FFF2-40B4-BE49-F238E27FC236}">
                <a16:creationId xmlns:a16="http://schemas.microsoft.com/office/drawing/2014/main" id="{B3163DC4-C635-40E9-8DA4-D79F21D5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Capture final screenshots or a short demo video.</a:t>
            </a:r>
          </a:p>
        </p:txBody>
      </p:sp>
      <p:sp>
        <p:nvSpPr>
          <p:cNvPr id="8" name="next-bullets-2">
            <a:extLst xmlns:a="http://schemas.openxmlformats.org/drawingml/2006/main">
              <a:ext uri="{FF2B5EF4-FFF2-40B4-BE49-F238E27FC236}">
                <a16:creationId xmlns:a16="http://schemas.microsoft.com/office/drawing/2014/main" id="{B541D296-6B17-43DD-96F6-F98706A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Implement M0-T29 static-hints-first / LLM orchestration if approved.</a:t>
            </a:r>
          </a:p>
        </p:txBody>
      </p:sp>
      <p:sp>
        <p:nvSpPr>
          <p:cNvPr id="9" name="next-bullets-3">
            <a:extLst xmlns:a="http://schemas.openxmlformats.org/drawingml/2006/main">
              <a:ext uri="{FF2B5EF4-FFF2-40B4-BE49-F238E27FC236}">
                <a16:creationId xmlns:a16="http://schemas.microsoft.com/office/drawing/2014/main" id="{78DFFC0E-ECD5-4C40-83EC-862AA832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Polish Act 3 visual clarity and feedback.</a:t>
            </a:r>
          </a:p>
        </p:txBody>
      </p:sp>
      <p:sp>
        <p:nvSpPr>
          <p:cNvPr id="10" name="next-bullets-4">
            <a:extLst xmlns:a="http://schemas.openxmlformats.org/drawingml/2006/main">
              <a:ext uri="{FF2B5EF4-FFF2-40B4-BE49-F238E27FC236}">
                <a16:creationId xmlns:a16="http://schemas.microsoft.com/office/drawing/2014/main" id="{AAE4EEFE-FE79-4743-B066-06B4D29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Prepare evaluation framing and demo script.</a:t>
            </a:r>
          </a:p>
        </p:txBody>
      </p:sp>
      <p:sp>
        <p:nvSpPr>
          <p:cNvPr id="11" name="discussion-box">
            <a:extLst xmlns:a="http://schemas.openxmlformats.org/drawingml/2006/main">
              <a:ext uri="{FF2B5EF4-FFF2-40B4-BE49-F238E27FC236}">
                <a16:creationId xmlns:a16="http://schemas.microsoft.com/office/drawing/2014/main" id="{38F01438-EFD6-4603-9D6E-3AF8654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50482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3E8"/>
            </a:solidFill>
            <a:prstDash val="solid"/>
          </a:ln>
        </p:spPr>
      </p:sp>
      <p:sp>
        <p:nvSpPr>
          <p:cNvPr id="12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A519F3DE-2AE0-4A6B-B011-93E6AF5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43B"/>
                </a:solidFill>
              </a:defRPr>
            </a:pPr>
            <a:r>
              <a:rPr sz="1800" b="1" i="0">
                <a:solidFill>
                  <a:srgbClr val="18243B"/>
                </a:solidFill>
              </a:rPr>
              <a:t>Discussion points for advice</a:t>
            </a:r>
          </a:p>
        </p:txBody>
      </p:sp>
      <p:sp>
        <p:nvSpPr>
          <p:cNvPr id="13" name="discussion-bullets-0">
            <a:extLst xmlns:a="http://schemas.openxmlformats.org/drawingml/2006/main">
              <a:ext uri="{FF2B5EF4-FFF2-40B4-BE49-F238E27FC236}">
                <a16:creationId xmlns:a16="http://schemas.microsoft.com/office/drawing/2014/main" id="{EA30A294-F570-4E58-B503-CDB16FD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Scope control: vertical slice vs more acts.</a:t>
            </a:r>
          </a:p>
        </p:txBody>
      </p:sp>
      <p:sp>
        <p:nvSpPr>
          <p:cNvPr id="14" name="discussion-bullets-1">
            <a:extLst xmlns:a="http://schemas.openxmlformats.org/drawingml/2006/main">
              <a:ext uri="{FF2B5EF4-FFF2-40B4-BE49-F238E27FC236}">
                <a16:creationId xmlns:a16="http://schemas.microsoft.com/office/drawing/2014/main" id="{B81AC766-2D63-4656-B3B0-47D7D4D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How much LLM integration is necessary for final assessment?</a:t>
            </a:r>
          </a:p>
        </p:txBody>
      </p:sp>
      <p:sp>
        <p:nvSpPr>
          <p:cNvPr id="15" name="discussion-bullets-2">
            <a:extLst xmlns:a="http://schemas.openxmlformats.org/drawingml/2006/main">
              <a:ext uri="{FF2B5EF4-FFF2-40B4-BE49-F238E27FC236}">
                <a16:creationId xmlns:a16="http://schemas.microsoft.com/office/drawing/2014/main" id="{3499F527-EF10-40DD-B6CD-3DEB443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Is backend/analytics evidence sufficient without a user study?</a:t>
            </a:r>
          </a:p>
        </p:txBody>
      </p:sp>
      <p:sp>
        <p:nvSpPr>
          <p:cNvPr id="16" name="discussion-bullets-3">
            <a:extLst xmlns:a="http://schemas.openxmlformats.org/drawingml/2006/main">
              <a:ext uri="{FF2B5EF4-FFF2-40B4-BE49-F238E27FC236}">
                <a16:creationId xmlns:a16="http://schemas.microsoft.com/office/drawing/2014/main" id="{5489ED68-79B3-488D-9431-8AD70B6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8243B"/>
                </a:solidFill>
              </a:defRPr>
            </a:pPr>
            <a:r>
              <a:rPr sz="1238" b="0" i="0">
                <a:solidFill>
                  <a:srgbClr val="18243B"/>
                </a:solidFill>
              </a:rPr>
              <a:t>• How to explain deterministic correctness + LLM support clearly.</a:t>
            </a:r>
          </a:p>
        </p:txBody>
      </p:sp>
      <p:sp>
        <p:nvSpPr>
          <p:cNvPr id="17" name="close-band">
            <a:extLst xmlns:a="http://schemas.openxmlformats.org/drawingml/2006/main">
              <a:ext uri="{FF2B5EF4-FFF2-40B4-BE49-F238E27FC236}">
                <a16:creationId xmlns:a16="http://schemas.microsoft.com/office/drawing/2014/main" id="{FAC6DEBC-8DDB-4A4C-B712-8BAAE73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15000"/>
            <a:ext cx="6781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7213A"/>
          </a:solidFill>
          <a:ln xmlns:a="http://schemas.openxmlformats.org/drawingml/2006/main" w="11430">
            <a:solidFill>
              <a:srgbClr val="17213A"/>
            </a:solidFill>
            <a:prstDash val="solid"/>
          </a:ln>
        </p:spPr>
      </p:sp>
      <p:sp>
        <p:nvSpPr>
          <p:cNvPr id="18" name="close-text">
            <a:extLst xmlns:a="http://schemas.openxmlformats.org/drawingml/2006/main">
              <a:ext uri="{FF2B5EF4-FFF2-40B4-BE49-F238E27FC236}">
                <a16:creationId xmlns:a16="http://schemas.microsoft.com/office/drawing/2014/main" id="{BDD7BDCF-E9BD-4153-A4C7-4E23932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293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Goal for the meeting: validate the demo story and narrow the next development step.</a:t>
            </a:r>
          </a:p>
        </p:txBody>
      </p:sp>
      <p:sp>
        <p:nvSpPr>
          <p:cNvPr id="19" name="footer-11">
            <a:extLst xmlns:a="http://schemas.openxmlformats.org/drawingml/2006/main">
              <a:ext uri="{FF2B5EF4-FFF2-40B4-BE49-F238E27FC236}">
                <a16:creationId xmlns:a16="http://schemas.microsoft.com/office/drawing/2014/main" id="{CE6EB4D8-6343-4E81-AB81-4D95FBB9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Ghost vertical slice demo</a:t>
            </a:r>
          </a:p>
        </p:txBody>
      </p:sp>
      <p:sp>
        <p:nvSpPr>
          <p:cNvPr id="20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F64F6A4E-328A-408D-8168-5EAD3D5F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8A2B3"/>
                </a:solidFill>
              </a:defRPr>
            </a:pPr>
            <a:r>
              <a:rPr sz="750" b="0" i="0">
                <a:solidFill>
                  <a:srgbClr val="98A2B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8557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2026-06-24T14:44:04.5520000Z</dcterms:created>
  <dcterms:modified xsi:type="dcterms:W3CDTF">2026-06-24T14:44:04.5530000Z</dcterms:modified>
</coreProperties>
</file>