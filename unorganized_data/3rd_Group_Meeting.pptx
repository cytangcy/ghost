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2" r:id="rId4"/>
    <p:sldId id="261" r:id="rId5"/>
    <p:sldId id="263" r:id="rId6"/>
    <p:sldId id="258" r:id="rId7"/>
    <p:sldId id="267" r:id="rId8"/>
    <p:sldId id="268" r:id="rId9"/>
    <p:sldId id="259" r:id="rId10"/>
    <p:sldId id="260" r:id="rId11"/>
    <p:sldId id="264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33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2738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AI Education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Puzzle-Based Learning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Chatbot: Narrative Puzzle Game for IBM SkillsBuild Chatbot Literacy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2916454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1408D90-3CE4-2425-3733-62D182C1D1C6}"/>
              </a:ext>
            </a:extLst>
          </p:cNvPr>
          <p:cNvSpPr/>
          <p:nvPr/>
        </p:nvSpPr>
        <p:spPr>
          <a:xfrm>
            <a:off x="457200" y="3094521"/>
            <a:ext cx="8229600" cy="9938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Group Meeting  ·  MSc Advanced Computing  ·  King's College London  ·  March 2026</a:t>
            </a:r>
          </a:p>
          <a:p>
            <a:pPr marL="0" indent="0" algn="ctr">
              <a:buNone/>
            </a:pPr>
            <a:r>
              <a:rPr lang="en-US" altLang="zh-TW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Chao-Yang Tang</a:t>
            </a:r>
          </a:p>
          <a:p>
            <a:pPr algn="ctr"/>
            <a:r>
              <a:rPr lang="en-GB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Leonardo </a:t>
            </a:r>
            <a:r>
              <a:rPr lang="en-GB" sz="14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Magela</a:t>
            </a:r>
            <a:r>
              <a:rPr lang="en-GB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Cunha</a:t>
            </a:r>
            <a:endParaRPr lang="en-US" altLang="zh-TW" sz="14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Research Questions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214884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94360" y="10789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40817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learning: low engagement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teach AI but lack adaptive support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2494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tutors lack curriculum structure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6700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GBL + LLM for chatbot literacy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23360" cy="2148840"/>
          </a:xfrm>
          <a:prstGeom prst="rect">
            <a:avLst/>
          </a:prstGeom>
          <a:solidFill>
            <a:srgbClr val="D0D8E8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800600" y="10789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800600" y="1463040"/>
            <a:ext cx="457200" cy="219456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800600" y="14630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330952" y="14630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narrative puzzle game teach chatbot/NLP concepts?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2029968"/>
            <a:ext cx="457200" cy="219456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800600" y="20299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30952" y="202996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LLM-powered agent improve learning outcomes?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2596896"/>
            <a:ext cx="457200" cy="219456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800600" y="259689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30952" y="259689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Ghost's growth drive keeping going through hard levels?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310128"/>
            <a:ext cx="8229600" cy="420624"/>
          </a:xfrm>
          <a:prstGeom prst="rect">
            <a:avLst/>
          </a:prstGeom>
          <a:solidFill>
            <a:srgbClr val="D0D8E8"/>
          </a:solidFill>
          <a:ln w="63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94360" y="3310128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Design and evaluate Ghost Chatbot. </a:t>
            </a:r>
          </a:p>
          <a:p>
            <a:pPr marL="0" indent="0">
              <a:buNone/>
            </a:pPr>
            <a:r>
              <a:rPr lang="en-US" sz="1300" i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narrative puzzle game covering IBM SkillsBuild chatbot curriculum, with local LLM tutor (Granite).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1243584"/>
          </a:xfrm>
          <a:prstGeom prst="rect">
            <a:avLst/>
          </a:prstGeom>
          <a:solidFill>
            <a:srgbClr val="D0D8E8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64008" cy="1243584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02336" y="106984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Mayer (2019). Annual Review of Psychology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307592"/>
            <a:ext cx="4059936" cy="9144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02336" y="134416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 of 76 GBL studies: d = 0.33. Effect strongest when game mechanics are directly connected to content. not just added for looks.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2336" y="1673352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H1 and sets our target. Shows 'direct teaching connection': every Ghost Chatbot puzzle must directly teach a chatbot concept.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206240" cy="1243584"/>
          </a:xfrm>
          <a:prstGeom prst="rect">
            <a:avLst/>
          </a:prstGeom>
          <a:solidFill>
            <a:srgbClr val="D0D8E8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64008" cy="1243584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882896" y="106984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Plass, Homer &amp; Kinzer (2015). Educational Psychologist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46320" y="1307592"/>
            <a:ext cx="4059936" cy="9144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882896" y="134416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parts of good game learning: thinking, motivation, emotion, and social context. All four must be active for lasting learning.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82896" y="1673352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guide for Ghost Chatbot: puzzles = thinking; Ghost's growth = emotional; Lily = motivation; IBM context = social.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304288"/>
            <a:ext cx="4206240" cy="1243584"/>
          </a:xfrm>
          <a:prstGeom prst="rect">
            <a:avLst/>
          </a:prstGeom>
          <a:solidFill>
            <a:srgbClr val="E2F0D9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274320" y="2304288"/>
            <a:ext cx="64008" cy="124358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02336" y="236829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Rowe, Mott et al. (2011). Int. J. AI in Education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2606040"/>
            <a:ext cx="4059936" cy="9144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02336" y="264261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 students: learning and fun are NOT at odds in story-based games. they reinforce each other (strong positive relationship).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2336" y="2971800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the worry that fun games cannot teach well. Gives the 4 key properties Ghost Chatbot must have.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304288"/>
            <a:ext cx="4206240" cy="1243584"/>
          </a:xfrm>
          <a:prstGeom prst="rect">
            <a:avLst/>
          </a:prstGeom>
          <a:solidFill>
            <a:srgbClr val="E2F0D9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754880" y="2304288"/>
            <a:ext cx="64008" cy="124358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882896" y="236829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Moreno, Mayer, Spires &amp; Lester (2001). Cognition &amp; Instruction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46320" y="2606040"/>
            <a:ext cx="4059936" cy="9144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882896" y="264261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experiments: animated characters help students learn more than plain text. students treat the character like a real partner.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82896" y="2971800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why Lily is needed. Active input events (how often player talks to Lily) = key log metric.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602736"/>
            <a:ext cx="4206240" cy="1243584"/>
          </a:xfrm>
          <a:prstGeom prst="rect">
            <a:avLst/>
          </a:prstGeom>
          <a:solidFill>
            <a:srgbClr val="E2D9F3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274320" y="3602736"/>
            <a:ext cx="64008" cy="1243584"/>
          </a:xfrm>
          <a:prstGeom prst="rect">
            <a:avLst/>
          </a:prstGeom>
          <a:solidFill>
            <a:srgbClr val="6A3D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402336" y="366674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&amp; Baylor (2006). Educational Technology R&amp;D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65760" y="3904488"/>
            <a:ext cx="4059936" cy="9144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02336" y="394106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companions (peer-like agents) produce higher motivation and confidence than expert tutors, even when the content is the same.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02336" y="4270248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3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why Lily acts like a curious researcher, not an all-knowing expert. A companion works better for keeping students engaged and less dependent.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602736"/>
            <a:ext cx="4206240" cy="1243584"/>
          </a:xfrm>
          <a:prstGeom prst="rect">
            <a:avLst/>
          </a:prstGeom>
          <a:solidFill>
            <a:srgbClr val="E2D9F3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4754880" y="3602736"/>
            <a:ext cx="64008" cy="1243584"/>
          </a:xfrm>
          <a:prstGeom prst="rect">
            <a:avLst/>
          </a:prstGeom>
          <a:solidFill>
            <a:srgbClr val="6A3D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4882896" y="366674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Graesser, VanLehn et al. (2001). AI Magazine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846320" y="3904488"/>
            <a:ext cx="4059936" cy="9144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4882896" y="394106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ITS (AutoTutor): effective tutors reduce error recovery time via targeted, timely hints. not full answers.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82896" y="4270248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3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Lily's hint system: 0 errors = silent; 1 to 3 = prompt; 5+ = direct. How fast the player recovers from errors is tracked in the game log.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Literature: 3 Hypotheses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2606040" cy="329184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 Game &gt; Passive Learning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1691640"/>
            <a:ext cx="2606040" cy="76809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30352" y="171907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Mayer (2019)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95681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d=0.33; game actions must directly teach the content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532888"/>
            <a:ext cx="2606040" cy="768096"/>
          </a:xfrm>
          <a:prstGeom prst="rect">
            <a:avLst/>
          </a:prstGeom>
          <a:solidFill>
            <a:srgbClr val="D0D8E8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30352" y="25603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Plass et al. (2015)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279806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pillars: thinking, motivation,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emotional, social context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374136"/>
            <a:ext cx="2606040" cy="76809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30352" y="340156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Rowe et al. (2011)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" y="36393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NCLE: narrative + agents +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problems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73552" y="1298448"/>
            <a:ext cx="2606040" cy="32918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364992" y="129844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 LLM Lily &gt; Static Hints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73552" y="1691640"/>
            <a:ext cx="2606040" cy="76809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392424" y="171907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Moreno et al. (2001)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92424" y="195681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agency → deeper learning;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input events = metric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73552" y="2532888"/>
            <a:ext cx="2606040" cy="768096"/>
          </a:xfrm>
          <a:prstGeom prst="rect">
            <a:avLst/>
          </a:prstGeom>
          <a:solidFill>
            <a:srgbClr val="E2F0D9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392424" y="25603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&amp; Baylor (2006)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92424" y="279806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&gt; expert for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confidence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73552" y="3374136"/>
            <a:ext cx="2606040" cy="76809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3392424" y="340156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Graesser et al. (2001)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92424" y="36393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support → shorter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recovery time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1298448"/>
            <a:ext cx="2606040" cy="329184"/>
          </a:xfrm>
          <a:prstGeom prst="rect">
            <a:avLst/>
          </a:prstGeom>
          <a:solidFill>
            <a:srgbClr val="6A3D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6217920" y="129844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 Affect → Persistence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26480" y="1691640"/>
            <a:ext cx="2606040" cy="1691640"/>
          </a:xfrm>
          <a:prstGeom prst="rect">
            <a:avLst/>
          </a:prstGeom>
          <a:solidFill>
            <a:srgbClr val="E2D9F3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6245352" y="175564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Plass et al. (2015)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45352" y="19933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engagement pillar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45352" y="237744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&amp; Deci (2000)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45352" y="261518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SDT: relatedness need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keeping going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45352" y="30358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(exploratory)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Framework &amp; Hypotheses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2788920" cy="347472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Game-Based Learning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engagement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788920" cy="822960"/>
          </a:xfrm>
          <a:prstGeom prst="rect">
            <a:avLst/>
          </a:prstGeom>
          <a:solidFill>
            <a:srgbClr val="D0D8E8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5760" y="1426464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puzzle = 1 chatbot concept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is understanding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00200" y="2231136"/>
            <a:ext cx="137160" cy="201168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536192" y="2404872"/>
            <a:ext cx="265176" cy="164592"/>
          </a:xfrm>
          <a:prstGeom prst="triangle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74320" y="2606040"/>
            <a:ext cx="2788920" cy="731520"/>
          </a:xfrm>
          <a:prstGeom prst="rect">
            <a:avLst/>
          </a:prstGeom>
          <a:solidFill>
            <a:srgbClr val="D0D8E8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65760" y="26517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Ghost Chatbot &gt; passive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SkillsBuild (knowledge gain)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27832" y="987552"/>
            <a:ext cx="2788920" cy="347472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300984" y="987552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Narrative-Centred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Affective engagement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27832" y="1371600"/>
            <a:ext cx="2788920" cy="822960"/>
          </a:xfrm>
          <a:prstGeom prst="rect">
            <a:avLst/>
          </a:prstGeom>
          <a:solidFill>
            <a:srgbClr val="D0D8E8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319272" y="1426464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Ghost's language grows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concept mastered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53712" y="2231136"/>
            <a:ext cx="137160" cy="201168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489704" y="2404872"/>
            <a:ext cx="265176" cy="164592"/>
          </a:xfrm>
          <a:prstGeom prst="triangle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3227832" y="2606040"/>
            <a:ext cx="2788920" cy="731520"/>
          </a:xfrm>
          <a:prstGeom prst="rect">
            <a:avLst/>
          </a:prstGeom>
          <a:solidFill>
            <a:srgbClr val="D0D8E8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319272" y="26517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(same): narrative sustains</a:t>
            </a:r>
          </a:p>
          <a:p>
            <a:pPr marL="0" indent="0">
              <a:buNone/>
            </a:pPr>
            <a:r>
              <a:rPr lang="en-US" sz="11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through 24 levels</a:t>
            </a:r>
          </a:p>
        </p:txBody>
      </p:sp>
      <p:sp>
        <p:nvSpPr>
          <p:cNvPr id="20" name="Shape 18"/>
          <p:cNvSpPr/>
          <p:nvPr/>
        </p:nvSpPr>
        <p:spPr>
          <a:xfrm>
            <a:off x="6181344" y="987552"/>
            <a:ext cx="2788920" cy="34747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254496" y="987552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Pedagogical Agents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Scaffolding mechanism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81344" y="1371600"/>
            <a:ext cx="2788920" cy="822960"/>
          </a:xfrm>
          <a:prstGeom prst="rect">
            <a:avLst/>
          </a:prstGeom>
          <a:solidFill>
            <a:srgbClr val="E2F0D9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272784" y="1426464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Lily: LLM + companion +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escalating hints (0→5+ errors)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07224" y="2231136"/>
            <a:ext cx="137160" cy="201168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7443216" y="2404872"/>
            <a:ext cx="265176" cy="164592"/>
          </a:xfrm>
          <a:prstGeom prst="triangle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6181344" y="2606040"/>
            <a:ext cx="2788920" cy="731520"/>
          </a:xfrm>
          <a:prstGeom prst="rect">
            <a:avLst/>
          </a:prstGeom>
          <a:solidFill>
            <a:srgbClr val="E2F0D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272784" y="26517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H2: LLM Lily &gt; static hints</a:t>
            </a:r>
          </a:p>
          <a:p>
            <a:pPr marL="0" indent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(completion, recovery, score)</a:t>
            </a:r>
          </a:p>
        </p:txBody>
      </p:sp>
      <p:sp>
        <p:nvSpPr>
          <p:cNvPr id="28" name="Shape 26"/>
          <p:cNvSpPr/>
          <p:nvPr/>
        </p:nvSpPr>
        <p:spPr>
          <a:xfrm>
            <a:off x="274320" y="3730752"/>
            <a:ext cx="8595360" cy="420624"/>
          </a:xfrm>
          <a:prstGeom prst="rect">
            <a:avLst/>
          </a:prstGeom>
          <a:solidFill>
            <a:srgbClr val="E2D9F3"/>
          </a:solidFill>
          <a:ln w="6350">
            <a:solidFill>
              <a:srgbClr val="6A3D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411480" y="3730752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A3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(exploratory): Plass et al. (2015) + Ryan &amp; Deci (2000) SDT → Ghost's visible growth drives keeping going through Acts 4 to 6 (a short survey and whether they choose to replay)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74320" y="42245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all three parts work together. removing any one will make the other two work less well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Concept: Ghost Chatbot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GB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C235C4F-2C7A-C7E5-C59D-1410C38FF034}"/>
              </a:ext>
            </a:extLst>
          </p:cNvPr>
          <p:cNvGrpSpPr/>
          <p:nvPr/>
        </p:nvGrpSpPr>
        <p:grpSpPr>
          <a:xfrm>
            <a:off x="877824" y="1252728"/>
            <a:ext cx="7388352" cy="1234440"/>
            <a:chOff x="320040" y="1143000"/>
            <a:chExt cx="7388352" cy="1234440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8A76BE5F-82D5-EC52-DE30-2018BF7ADBC1}"/>
                </a:ext>
              </a:extLst>
            </p:cNvPr>
            <p:cNvGrpSpPr/>
            <p:nvPr/>
          </p:nvGrpSpPr>
          <p:grpSpPr>
            <a:xfrm>
              <a:off x="320040" y="1143000"/>
              <a:ext cx="1472184" cy="1234440"/>
              <a:chOff x="320040" y="1143000"/>
              <a:chExt cx="1472184" cy="1234440"/>
            </a:xfrm>
          </p:grpSpPr>
          <p:sp>
            <p:nvSpPr>
              <p:cNvPr id="4" name="Shape 2"/>
              <p:cNvSpPr/>
              <p:nvPr/>
            </p:nvSpPr>
            <p:spPr>
              <a:xfrm>
                <a:off x="320040" y="1143000"/>
                <a:ext cx="1389888" cy="1234440"/>
              </a:xfrm>
              <a:prstGeom prst="rect">
                <a:avLst/>
              </a:prstGeom>
              <a:solidFill>
                <a:srgbClr val="F2F2F2"/>
              </a:solidFill>
              <a:ln w="6350">
                <a:solidFill>
                  <a:srgbClr val="CCCCCC"/>
                </a:solidFill>
                <a:prstDash val="solid"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" name="Text 3"/>
              <p:cNvSpPr/>
              <p:nvPr/>
            </p:nvSpPr>
            <p:spPr>
              <a:xfrm>
                <a:off x="320040" y="1216152"/>
                <a:ext cx="1389888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200" dirty="0">
                    <a:solidFill>
                      <a:srgbClr val="000000"/>
                    </a:solidFill>
                    <a:latin typeface="Segoe UI Emoji,Calibri" pitchFamily="34" charset="0"/>
                    <a:ea typeface="Segoe UI Emoji,Calibri" pitchFamily="34" charset="-122"/>
                    <a:cs typeface="Segoe UI Emoji,Calibri" pitchFamily="34" charset="-120"/>
                  </a:rPr>
                  <a:t>🔦</a:t>
                </a:r>
                <a:endParaRPr lang="en-US" sz="2200" dirty="0"/>
              </a:p>
            </p:txBody>
          </p:sp>
          <p:sp>
            <p:nvSpPr>
              <p:cNvPr id="6" name="Text 4"/>
              <p:cNvSpPr/>
              <p:nvPr/>
            </p:nvSpPr>
            <p:spPr>
              <a:xfrm>
                <a:off x="374904" y="1636776"/>
                <a:ext cx="128016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Act 0</a:t>
                </a:r>
                <a:endParaRPr lang="en-US" sz="1100" dirty="0"/>
              </a:p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Prologue</a:t>
                </a:r>
                <a:endParaRPr lang="en-US" sz="1100" dirty="0"/>
              </a:p>
            </p:txBody>
          </p:sp>
          <p:sp>
            <p:nvSpPr>
              <p:cNvPr id="7" name="Text 5"/>
              <p:cNvSpPr/>
              <p:nvPr/>
            </p:nvSpPr>
            <p:spPr>
              <a:xfrm>
                <a:off x="374904" y="1947672"/>
                <a:ext cx="128016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50" dirty="0">
                    <a:solidFill>
                      <a:srgbClr val="44444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Morse code</a:t>
                </a:r>
                <a:endParaRPr lang="en-US" sz="1050" dirty="0"/>
              </a:p>
              <a:p>
                <a:pPr marL="0" indent="0" algn="ctr">
                  <a:buNone/>
                </a:pPr>
                <a:r>
                  <a:rPr lang="en-US" sz="1050" dirty="0">
                    <a:solidFill>
                      <a:srgbClr val="44444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&amp; lights</a:t>
                </a:r>
                <a:endParaRPr lang="en-US" sz="1050" dirty="0"/>
              </a:p>
            </p:txBody>
          </p:sp>
          <p:sp>
            <p:nvSpPr>
              <p:cNvPr id="8" name="Shape 6"/>
              <p:cNvSpPr/>
              <p:nvPr/>
            </p:nvSpPr>
            <p:spPr>
              <a:xfrm>
                <a:off x="1719072" y="1723644"/>
                <a:ext cx="73152" cy="73152"/>
              </a:xfrm>
              <a:prstGeom prst="rect">
                <a:avLst/>
              </a:prstGeom>
              <a:solidFill>
                <a:srgbClr val="888888"/>
              </a:solidFill>
              <a:ln/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9" name="Shape 7"/>
            <p:cNvSpPr/>
            <p:nvPr/>
          </p:nvSpPr>
          <p:spPr>
            <a:xfrm>
              <a:off x="1764792" y="1668780"/>
              <a:ext cx="73152" cy="164592"/>
            </a:xfrm>
            <a:prstGeom prst="triangle">
              <a:avLst/>
            </a:prstGeom>
            <a:solidFill>
              <a:srgbClr val="888888"/>
            </a:solidFill>
            <a:ln/>
          </p:spPr>
          <p:txBody>
            <a:bodyPr/>
            <a:lstStyle/>
            <a:p>
              <a:endParaRPr lang="en-GB"/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A2939C65-79E9-4BA8-9859-DEEF08392DC2}"/>
                </a:ext>
              </a:extLst>
            </p:cNvPr>
            <p:cNvGrpSpPr/>
            <p:nvPr/>
          </p:nvGrpSpPr>
          <p:grpSpPr>
            <a:xfrm>
              <a:off x="1819656" y="1143000"/>
              <a:ext cx="1389888" cy="1234440"/>
              <a:chOff x="1819656" y="1143000"/>
              <a:chExt cx="1389888" cy="1234440"/>
            </a:xfrm>
          </p:grpSpPr>
          <p:sp>
            <p:nvSpPr>
              <p:cNvPr id="10" name="Shape 8"/>
              <p:cNvSpPr/>
              <p:nvPr/>
            </p:nvSpPr>
            <p:spPr>
              <a:xfrm>
                <a:off x="1819656" y="1143000"/>
                <a:ext cx="1389888" cy="1234440"/>
              </a:xfrm>
              <a:prstGeom prst="rect">
                <a:avLst/>
              </a:prstGeom>
              <a:solidFill>
                <a:srgbClr val="F2F2F2"/>
              </a:solidFill>
              <a:ln w="6350">
                <a:solidFill>
                  <a:srgbClr val="CCCCCC"/>
                </a:solidFill>
                <a:prstDash val="solid"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" name="Text 9"/>
              <p:cNvSpPr/>
              <p:nvPr/>
            </p:nvSpPr>
            <p:spPr>
              <a:xfrm>
                <a:off x="1819656" y="1216152"/>
                <a:ext cx="1389888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200" dirty="0">
                    <a:solidFill>
                      <a:srgbClr val="000000"/>
                    </a:solidFill>
                    <a:latin typeface="Segoe UI Emoji,Calibri" pitchFamily="34" charset="0"/>
                    <a:ea typeface="Segoe UI Emoji,Calibri" pitchFamily="34" charset="-122"/>
                    <a:cs typeface="Segoe UI Emoji,Calibri" pitchFamily="34" charset="-120"/>
                  </a:rPr>
                  <a:t>😶</a:t>
                </a:r>
                <a:endParaRPr lang="en-US" sz="2200" dirty="0"/>
              </a:p>
            </p:txBody>
          </p:sp>
          <p:sp>
            <p:nvSpPr>
              <p:cNvPr id="12" name="Text 10"/>
              <p:cNvSpPr/>
              <p:nvPr/>
            </p:nvSpPr>
            <p:spPr>
              <a:xfrm>
                <a:off x="1874520" y="1636776"/>
                <a:ext cx="128016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Act 1 to 2</a:t>
                </a:r>
                <a:endParaRPr lang="en-US" sz="1100" dirty="0"/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1874520" y="1947672"/>
                <a:ext cx="128016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50" dirty="0">
                    <a:solidFill>
                      <a:srgbClr val="44444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Emoji &amp;</a:t>
                </a:r>
                <a:endParaRPr lang="en-US" sz="1050" dirty="0"/>
              </a:p>
              <a:p>
                <a:pPr marL="0" indent="0" algn="ctr">
                  <a:buNone/>
                </a:pPr>
                <a:r>
                  <a:rPr lang="en-US" sz="1050" dirty="0">
                    <a:solidFill>
                      <a:srgbClr val="44444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garbled text</a:t>
                </a:r>
                <a:endParaRPr lang="en-US" sz="1050" dirty="0"/>
              </a:p>
            </p:txBody>
          </p:sp>
        </p:grpSp>
        <p:sp>
          <p:nvSpPr>
            <p:cNvPr id="14" name="Shape 12"/>
            <p:cNvSpPr/>
            <p:nvPr/>
          </p:nvSpPr>
          <p:spPr>
            <a:xfrm>
              <a:off x="3218688" y="1723644"/>
              <a:ext cx="73152" cy="73152"/>
            </a:xfrm>
            <a:prstGeom prst="rect">
              <a:avLst/>
            </a:prstGeom>
            <a:solidFill>
              <a:srgbClr val="888888"/>
            </a:solidFill>
            <a:ln/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Shape 13"/>
            <p:cNvSpPr/>
            <p:nvPr/>
          </p:nvSpPr>
          <p:spPr>
            <a:xfrm>
              <a:off x="3264408" y="1668780"/>
              <a:ext cx="73152" cy="164592"/>
            </a:xfrm>
            <a:prstGeom prst="triangle">
              <a:avLst/>
            </a:prstGeom>
            <a:solidFill>
              <a:srgbClr val="888888"/>
            </a:solidFill>
            <a:ln/>
          </p:spPr>
          <p:txBody>
            <a:bodyPr/>
            <a:lstStyle/>
            <a:p>
              <a:endParaRPr lang="en-GB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15FE6EFD-2597-16EB-A422-22A601C40E6E}"/>
                </a:ext>
              </a:extLst>
            </p:cNvPr>
            <p:cNvGrpSpPr/>
            <p:nvPr/>
          </p:nvGrpSpPr>
          <p:grpSpPr>
            <a:xfrm>
              <a:off x="3319272" y="1143000"/>
              <a:ext cx="1472184" cy="1234440"/>
              <a:chOff x="3319272" y="1143000"/>
              <a:chExt cx="1472184" cy="1234440"/>
            </a:xfrm>
          </p:grpSpPr>
          <p:sp>
            <p:nvSpPr>
              <p:cNvPr id="16" name="Shape 14"/>
              <p:cNvSpPr/>
              <p:nvPr/>
            </p:nvSpPr>
            <p:spPr>
              <a:xfrm>
                <a:off x="3319272" y="1143000"/>
                <a:ext cx="1389888" cy="1234440"/>
              </a:xfrm>
              <a:prstGeom prst="rect">
                <a:avLst/>
              </a:prstGeom>
              <a:solidFill>
                <a:srgbClr val="D0D8E8"/>
              </a:solidFill>
              <a:ln w="6350">
                <a:solidFill>
                  <a:srgbClr val="CCCCCC"/>
                </a:solidFill>
                <a:prstDash val="solid"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" name="Text 15"/>
              <p:cNvSpPr/>
              <p:nvPr/>
            </p:nvSpPr>
            <p:spPr>
              <a:xfrm>
                <a:off x="3319272" y="1216152"/>
                <a:ext cx="1389888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200" dirty="0">
                    <a:solidFill>
                      <a:srgbClr val="000000"/>
                    </a:solidFill>
                    <a:latin typeface="Segoe UI Emoji,Calibri" pitchFamily="34" charset="0"/>
                    <a:ea typeface="Segoe UI Emoji,Calibri" pitchFamily="34" charset="-122"/>
                    <a:cs typeface="Segoe UI Emoji,Calibri" pitchFamily="34" charset="-120"/>
                  </a:rPr>
                  <a:t>💬</a:t>
                </a:r>
                <a:endParaRPr lang="en-US" sz="2200" dirty="0"/>
              </a:p>
            </p:txBody>
          </p:sp>
          <p:sp>
            <p:nvSpPr>
              <p:cNvPr id="18" name="Text 16"/>
              <p:cNvSpPr/>
              <p:nvPr/>
            </p:nvSpPr>
            <p:spPr>
              <a:xfrm>
                <a:off x="3374136" y="1636776"/>
                <a:ext cx="128016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Act 3 to 4</a:t>
                </a:r>
                <a:endParaRPr lang="en-US" sz="1100" dirty="0"/>
              </a:p>
            </p:txBody>
          </p:sp>
          <p:sp>
            <p:nvSpPr>
              <p:cNvPr id="19" name="Text 17"/>
              <p:cNvSpPr/>
              <p:nvPr/>
            </p:nvSpPr>
            <p:spPr>
              <a:xfrm>
                <a:off x="3374136" y="1947672"/>
                <a:ext cx="128016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50" dirty="0">
                    <a:solidFill>
                      <a:srgbClr val="44444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Simple</a:t>
                </a:r>
                <a:endParaRPr lang="en-US" sz="1050" dirty="0"/>
              </a:p>
              <a:p>
                <a:pPr marL="0" indent="0" algn="ctr">
                  <a:buNone/>
                </a:pPr>
                <a:r>
                  <a:rPr lang="en-US" sz="1050" dirty="0">
                    <a:solidFill>
                      <a:srgbClr val="44444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words</a:t>
                </a:r>
                <a:endParaRPr lang="en-US" sz="1050" dirty="0"/>
              </a:p>
            </p:txBody>
          </p:sp>
          <p:sp>
            <p:nvSpPr>
              <p:cNvPr id="20" name="Shape 18"/>
              <p:cNvSpPr/>
              <p:nvPr/>
            </p:nvSpPr>
            <p:spPr>
              <a:xfrm>
                <a:off x="4718304" y="1723644"/>
                <a:ext cx="73152" cy="73152"/>
              </a:xfrm>
              <a:prstGeom prst="rect">
                <a:avLst/>
              </a:prstGeom>
              <a:solidFill>
                <a:srgbClr val="888888"/>
              </a:solidFill>
              <a:ln/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3B6BB06E-499C-5996-21E8-30CDB9D298AF}"/>
                </a:ext>
              </a:extLst>
            </p:cNvPr>
            <p:cNvGrpSpPr/>
            <p:nvPr/>
          </p:nvGrpSpPr>
          <p:grpSpPr>
            <a:xfrm>
              <a:off x="4764024" y="1143000"/>
              <a:ext cx="1444752" cy="1234440"/>
              <a:chOff x="4764024" y="1143000"/>
              <a:chExt cx="1444752" cy="1234440"/>
            </a:xfrm>
          </p:grpSpPr>
          <p:sp>
            <p:nvSpPr>
              <p:cNvPr id="21" name="Shape 19"/>
              <p:cNvSpPr/>
              <p:nvPr/>
            </p:nvSpPr>
            <p:spPr>
              <a:xfrm>
                <a:off x="4764024" y="1668780"/>
                <a:ext cx="73152" cy="164592"/>
              </a:xfrm>
              <a:prstGeom prst="triangle">
                <a:avLst/>
              </a:prstGeom>
              <a:solidFill>
                <a:srgbClr val="888888"/>
              </a:solidFill>
              <a:ln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" name="Shape 20"/>
              <p:cNvSpPr/>
              <p:nvPr/>
            </p:nvSpPr>
            <p:spPr>
              <a:xfrm>
                <a:off x="4818888" y="1143000"/>
                <a:ext cx="1389888" cy="1234440"/>
              </a:xfrm>
              <a:prstGeom prst="rect">
                <a:avLst/>
              </a:prstGeom>
              <a:solidFill>
                <a:srgbClr val="D0D8E8"/>
              </a:solidFill>
              <a:ln w="6350">
                <a:solidFill>
                  <a:srgbClr val="CCCCCC"/>
                </a:solidFill>
                <a:prstDash val="solid"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" name="Text 21"/>
              <p:cNvSpPr/>
              <p:nvPr/>
            </p:nvSpPr>
            <p:spPr>
              <a:xfrm>
                <a:off x="4818888" y="1216152"/>
                <a:ext cx="1389888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200" dirty="0">
                    <a:solidFill>
                      <a:srgbClr val="000000"/>
                    </a:solidFill>
                    <a:latin typeface="Segoe UI Emoji,Calibri" pitchFamily="34" charset="0"/>
                    <a:ea typeface="Segoe UI Emoji,Calibri" pitchFamily="34" charset="-122"/>
                    <a:cs typeface="Segoe UI Emoji,Calibri" pitchFamily="34" charset="-120"/>
                  </a:rPr>
                  <a:t>🗣️</a:t>
                </a:r>
                <a:endParaRPr lang="en-US" sz="2200" dirty="0"/>
              </a:p>
            </p:txBody>
          </p:sp>
          <p:sp>
            <p:nvSpPr>
              <p:cNvPr id="24" name="Text 22"/>
              <p:cNvSpPr/>
              <p:nvPr/>
            </p:nvSpPr>
            <p:spPr>
              <a:xfrm>
                <a:off x="4873752" y="1636776"/>
                <a:ext cx="128016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Act 5</a:t>
                </a:r>
                <a:endParaRPr lang="en-US" sz="1100" dirty="0"/>
              </a:p>
            </p:txBody>
          </p:sp>
          <p:sp>
            <p:nvSpPr>
              <p:cNvPr id="25" name="Text 23"/>
              <p:cNvSpPr/>
              <p:nvPr/>
            </p:nvSpPr>
            <p:spPr>
              <a:xfrm>
                <a:off x="4873752" y="1947672"/>
                <a:ext cx="128016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50" dirty="0">
                    <a:solidFill>
                      <a:srgbClr val="44444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Short</a:t>
                </a:r>
                <a:endParaRPr lang="en-US" sz="1050" dirty="0"/>
              </a:p>
              <a:p>
                <a:pPr marL="0" indent="0" algn="ctr">
                  <a:buNone/>
                </a:pPr>
                <a:r>
                  <a:rPr lang="en-US" sz="1050" dirty="0">
                    <a:solidFill>
                      <a:srgbClr val="44444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sentences</a:t>
                </a:r>
                <a:endParaRPr lang="en-US" sz="1050" dirty="0"/>
              </a:p>
            </p:txBody>
          </p:sp>
        </p:grpSp>
        <p:sp>
          <p:nvSpPr>
            <p:cNvPr id="26" name="Shape 24"/>
            <p:cNvSpPr/>
            <p:nvPr/>
          </p:nvSpPr>
          <p:spPr>
            <a:xfrm>
              <a:off x="6217920" y="1723644"/>
              <a:ext cx="73152" cy="73152"/>
            </a:xfrm>
            <a:prstGeom prst="rect">
              <a:avLst/>
            </a:prstGeom>
            <a:solidFill>
              <a:srgbClr val="888888"/>
            </a:solidFill>
            <a:ln/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Shape 25"/>
            <p:cNvSpPr/>
            <p:nvPr/>
          </p:nvSpPr>
          <p:spPr>
            <a:xfrm>
              <a:off x="6263640" y="1668780"/>
              <a:ext cx="73152" cy="164592"/>
            </a:xfrm>
            <a:prstGeom prst="triangle">
              <a:avLst/>
            </a:prstGeom>
            <a:solidFill>
              <a:srgbClr val="888888"/>
            </a:solidFill>
            <a:ln/>
          </p:spPr>
          <p:txBody>
            <a:bodyPr/>
            <a:lstStyle/>
            <a:p>
              <a:endParaRPr lang="en-GB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2ADF368-8ECC-F349-FA44-D9B849E7428A}"/>
                </a:ext>
              </a:extLst>
            </p:cNvPr>
            <p:cNvGrpSpPr/>
            <p:nvPr/>
          </p:nvGrpSpPr>
          <p:grpSpPr>
            <a:xfrm>
              <a:off x="6318504" y="1143000"/>
              <a:ext cx="1389888" cy="1234440"/>
              <a:chOff x="6318504" y="1143000"/>
              <a:chExt cx="1389888" cy="1234440"/>
            </a:xfrm>
          </p:grpSpPr>
          <p:sp>
            <p:nvSpPr>
              <p:cNvPr id="28" name="Shape 26"/>
              <p:cNvSpPr/>
              <p:nvPr/>
            </p:nvSpPr>
            <p:spPr>
              <a:xfrm>
                <a:off x="6318504" y="1143000"/>
                <a:ext cx="1389888" cy="1234440"/>
              </a:xfrm>
              <a:prstGeom prst="rect">
                <a:avLst/>
              </a:prstGeom>
              <a:solidFill>
                <a:srgbClr val="E2F0D9"/>
              </a:solidFill>
              <a:ln w="6350">
                <a:solidFill>
                  <a:srgbClr val="CCCCCC"/>
                </a:solidFill>
                <a:prstDash val="solid"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" name="Text 27"/>
              <p:cNvSpPr/>
              <p:nvPr/>
            </p:nvSpPr>
            <p:spPr>
              <a:xfrm>
                <a:off x="6318504" y="1216152"/>
                <a:ext cx="1389888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200" dirty="0">
                    <a:solidFill>
                      <a:srgbClr val="000000"/>
                    </a:solidFill>
                    <a:latin typeface="Segoe UI Emoji,Calibri" pitchFamily="34" charset="0"/>
                    <a:ea typeface="Segoe UI Emoji,Calibri" pitchFamily="34" charset="-122"/>
                    <a:cs typeface="Segoe UI Emoji,Calibri" pitchFamily="34" charset="-120"/>
                  </a:rPr>
                  <a:t>✨</a:t>
                </a:r>
                <a:endParaRPr lang="en-US" sz="2200" dirty="0"/>
              </a:p>
            </p:txBody>
          </p:sp>
          <p:sp>
            <p:nvSpPr>
              <p:cNvPr id="30" name="Text 28"/>
              <p:cNvSpPr/>
              <p:nvPr/>
            </p:nvSpPr>
            <p:spPr>
              <a:xfrm>
                <a:off x="6373368" y="1636776"/>
                <a:ext cx="128016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Act 6</a:t>
                </a:r>
                <a:endParaRPr lang="en-US" sz="1100" dirty="0"/>
              </a:p>
            </p:txBody>
          </p:sp>
          <p:sp>
            <p:nvSpPr>
              <p:cNvPr id="31" name="Text 29"/>
              <p:cNvSpPr/>
              <p:nvPr/>
            </p:nvSpPr>
            <p:spPr>
              <a:xfrm>
                <a:off x="6373368" y="1947672"/>
                <a:ext cx="128016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50" dirty="0">
                    <a:solidFill>
                      <a:srgbClr val="44444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Fluent</a:t>
                </a:r>
                <a:endParaRPr lang="en-US" sz="1050" dirty="0"/>
              </a:p>
              <a:p>
                <a:pPr marL="0" indent="0" algn="ctr">
                  <a:buNone/>
                </a:pPr>
                <a:r>
                  <a:rPr lang="en-US" sz="1050" dirty="0">
                    <a:solidFill>
                      <a:srgbClr val="44444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speech</a:t>
                </a:r>
                <a:endParaRPr lang="en-US" sz="1050" dirty="0"/>
              </a:p>
            </p:txBody>
          </p:sp>
        </p:grpSp>
      </p:grpSp>
      <p:sp>
        <p:nvSpPr>
          <p:cNvPr id="32" name="Text 30"/>
          <p:cNvSpPr/>
          <p:nvPr/>
        </p:nvSpPr>
        <p:spPr>
          <a:xfrm>
            <a:off x="457200" y="2542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Ghost's language expands only when the player masters each chatbot concept. the concepts ARE the story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57200" y="2944368"/>
            <a:ext cx="3931920" cy="86868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594360" y="29809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Segoe UI Emoji,Calibri" pitchFamily="34" charset="0"/>
                <a:ea typeface="Segoe UI Emoji,Calibri" pitchFamily="34" charset="-122"/>
                <a:cs typeface="Segoe UI Emoji,Calibri" pitchFamily="34" charset="-120"/>
              </a:rPr>
              <a:t>👻  Ghost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94360" y="325526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Trapped in smart home. player trains it to communicate = learning chatbot design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754880" y="2944368"/>
            <a:ext cx="3931920" cy="868680"/>
          </a:xfrm>
          <a:prstGeom prst="rect">
            <a:avLst/>
          </a:prstGeom>
          <a:solidFill>
            <a:srgbClr val="D0D8E8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4892040" y="29809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Segoe UI Emoji,Calibri" pitchFamily="34" charset="0"/>
                <a:ea typeface="Segoe UI Emoji,Calibri" pitchFamily="34" charset="-122"/>
                <a:cs typeface="Segoe UI Emoji,Calibri" pitchFamily="34" charset="-120"/>
              </a:rPr>
              <a:t>🎓  Lily (LLM Tutor)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892040" y="325526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PhD researcher; LLM-powered; gives bigger hints over time; friendly personality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7200" y="39136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tools free / available via King's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Design: Story Structure → Course Mapping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676656" cy="32918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10896" y="9875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005840" y="987552"/>
            <a:ext cx="2432304" cy="32918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042416" y="987552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Beat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93008" y="987552"/>
            <a:ext cx="2112264" cy="32918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529584" y="987552"/>
            <a:ext cx="2075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Taught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0136" y="987552"/>
            <a:ext cx="2112264" cy="32918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696712" y="987552"/>
            <a:ext cx="2075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 Type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827264" y="987552"/>
            <a:ext cx="530352" cy="32918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863840" y="987552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Lvls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1353312"/>
            <a:ext cx="676656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29184" y="1371600"/>
            <a:ext cx="6217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5840" y="1353312"/>
            <a:ext cx="243230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060704" y="1371600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moves in; Ghost blinks Morse code signals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93008" y="1353312"/>
            <a:ext cx="211226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547872" y="1371600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chatbot? Why communication fails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0136" y="1353312"/>
            <a:ext cx="211226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715000" y="1371600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Morse decoder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27264" y="1353312"/>
            <a:ext cx="530352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7882128" y="1371600"/>
            <a:ext cx="4754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1801368"/>
            <a:ext cx="676656" cy="42976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329184" y="1819656"/>
            <a:ext cx="6217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05840" y="1801368"/>
            <a:ext cx="2432304" cy="42976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1060704" y="1819656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Lily arrives; Ghost sends garbled emoji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93008" y="1801368"/>
            <a:ext cx="2112264" cy="42976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3547872" y="1819656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basics; Intent classification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0136" y="1801368"/>
            <a:ext cx="2112264" cy="42976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5715000" y="1819656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drag-and-sort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27264" y="1801368"/>
            <a:ext cx="530352" cy="42976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7882128" y="1819656"/>
            <a:ext cx="4754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2249424"/>
            <a:ext cx="676656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329184" y="2267712"/>
            <a:ext cx="6217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05840" y="2249424"/>
            <a:ext cx="243230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1060704" y="2267712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confuses similar requests; misses key details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493008" y="2249424"/>
            <a:ext cx="211226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3547872" y="2267712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Entities; Slot Filling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660136" y="2249424"/>
            <a:ext cx="211226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5715000" y="2267712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tagger; slot form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827264" y="2249424"/>
            <a:ext cx="530352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7882128" y="2267712"/>
            <a:ext cx="4754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2697480"/>
            <a:ext cx="676656" cy="42976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329184" y="2715768"/>
            <a:ext cx="6217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005840" y="2697480"/>
            <a:ext cx="2432304" cy="42976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1060704" y="2715768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understands but forgets context between turns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493008" y="2697480"/>
            <a:ext cx="2112264" cy="42976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3547872" y="2715768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 Nodes; Context Variables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660136" y="2697480"/>
            <a:ext cx="2112264" cy="42976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5715000" y="2715768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Node-wire puzzle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827264" y="2697480"/>
            <a:ext cx="530352" cy="42976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7882128" y="2715768"/>
            <a:ext cx="4754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74320" y="3145536"/>
            <a:ext cx="676656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/>
          <p:nvPr/>
        </p:nvSpPr>
        <p:spPr>
          <a:xfrm>
            <a:off x="329184" y="3163824"/>
            <a:ext cx="6217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005840" y="3145536"/>
            <a:ext cx="243230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55"/>
          <p:cNvSpPr/>
          <p:nvPr/>
        </p:nvSpPr>
        <p:spPr>
          <a:xfrm>
            <a:off x="1060704" y="3163824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replies incorrectly to edge-case inputs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493008" y="3145536"/>
            <a:ext cx="211226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3547872" y="3163824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Score; Fallback; Disambiguation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660136" y="3145536"/>
            <a:ext cx="211226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59"/>
          <p:cNvSpPr/>
          <p:nvPr/>
        </p:nvSpPr>
        <p:spPr>
          <a:xfrm>
            <a:off x="5715000" y="3163824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calibrator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827264" y="3145536"/>
            <a:ext cx="530352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Text 61"/>
          <p:cNvSpPr/>
          <p:nvPr/>
        </p:nvSpPr>
        <p:spPr>
          <a:xfrm>
            <a:off x="7882128" y="3163824"/>
            <a:ext cx="4754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274320" y="3593592"/>
            <a:ext cx="676656" cy="42976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Text 63"/>
          <p:cNvSpPr/>
          <p:nvPr/>
        </p:nvSpPr>
        <p:spPr>
          <a:xfrm>
            <a:off x="329184" y="3611880"/>
            <a:ext cx="6217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5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1005840" y="3593592"/>
            <a:ext cx="2432304" cy="42976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Text 65"/>
          <p:cNvSpPr/>
          <p:nvPr/>
        </p:nvSpPr>
        <p:spPr>
          <a:xfrm>
            <a:off x="1060704" y="3611880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nearly fluent but flow has dead-ends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3493008" y="3593592"/>
            <a:ext cx="2112264" cy="42976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Text 67"/>
          <p:cNvSpPr/>
          <p:nvPr/>
        </p:nvSpPr>
        <p:spPr>
          <a:xfrm>
            <a:off x="3547872" y="3611880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 flow optimisation; Testing &amp; debug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5660136" y="3593592"/>
            <a:ext cx="2112264" cy="42976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Text 69"/>
          <p:cNvSpPr/>
          <p:nvPr/>
        </p:nvSpPr>
        <p:spPr>
          <a:xfrm>
            <a:off x="5715000" y="3611880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debugger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827264" y="3593592"/>
            <a:ext cx="530352" cy="42976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Text 71"/>
          <p:cNvSpPr/>
          <p:nvPr/>
        </p:nvSpPr>
        <p:spPr>
          <a:xfrm>
            <a:off x="7882128" y="3611880"/>
            <a:ext cx="4754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274320" y="4041648"/>
            <a:ext cx="676656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Text 73"/>
          <p:cNvSpPr/>
          <p:nvPr/>
        </p:nvSpPr>
        <p:spPr>
          <a:xfrm>
            <a:off x="329184" y="4059936"/>
            <a:ext cx="6217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6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1005840" y="4041648"/>
            <a:ext cx="243230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Text 75"/>
          <p:cNvSpPr/>
          <p:nvPr/>
        </p:nvSpPr>
        <p:spPr>
          <a:xfrm>
            <a:off x="1060704" y="4059936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communicates fully; player names it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3493008" y="4041648"/>
            <a:ext cx="211226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Text 77"/>
          <p:cNvSpPr/>
          <p:nvPr/>
        </p:nvSpPr>
        <p:spPr>
          <a:xfrm>
            <a:off x="3547872" y="4059936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integration. full chatbot design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5660136" y="4041648"/>
            <a:ext cx="211226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1" name="Text 79"/>
          <p:cNvSpPr/>
          <p:nvPr/>
        </p:nvSpPr>
        <p:spPr>
          <a:xfrm>
            <a:off x="5715000" y="4059936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assembly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7827264" y="4041648"/>
            <a:ext cx="530352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Text 81"/>
          <p:cNvSpPr/>
          <p:nvPr/>
        </p:nvSpPr>
        <p:spPr>
          <a:xfrm>
            <a:off x="7882128" y="4059936"/>
            <a:ext cx="4754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274320" y="456285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24 levels  ·  ~90 to 100 min play time  ·  All tools free / available through King's College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In-Game Data Logs (No External Dataset)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206240" cy="1005840"/>
          </a:xfrm>
          <a:prstGeom prst="rect">
            <a:avLst/>
          </a:prstGeom>
          <a:solidFill>
            <a:srgbClr val="D0D8E8"/>
          </a:solidFill>
          <a:ln w="63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48640" y="10607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does not use an external dataset.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5331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is generated automatically by players interacting with the game. No manual collection, cleaning, or collection plan is needed. the game is the data source.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92040" y="1005840"/>
            <a:ext cx="3840480" cy="1005840"/>
          </a:xfrm>
          <a:prstGeom prst="rect">
            <a:avLst/>
          </a:prstGeom>
          <a:solidFill>
            <a:srgbClr val="E2F0D9"/>
          </a:solidFill>
          <a:ln w="63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029200" y="10607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Format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35331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JSON (SQLite + optional Firebase)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 entry per event, tagged with an anonymous session 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 data collected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1488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Log Fields Collected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2487168"/>
            <a:ext cx="1517904" cy="2743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66344" y="248716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name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993392" y="2487168"/>
            <a:ext cx="832104" cy="2743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048256" y="2487168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889504" y="2487168"/>
            <a:ext cx="5586984" cy="2743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944368" y="2487168"/>
            <a:ext cx="5550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" y="2798064"/>
            <a:ext cx="151790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66344" y="28163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993392" y="2798064"/>
            <a:ext cx="83210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2048256" y="281635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889504" y="2798064"/>
            <a:ext cx="558698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2944368" y="2816352"/>
            <a:ext cx="5532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ID for each play session. no personal data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" y="3072384"/>
            <a:ext cx="1517904" cy="256032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66344" y="30906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act_id / level_id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993392" y="3072384"/>
            <a:ext cx="832104" cy="256032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2048256" y="309067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889504" y="3072384"/>
            <a:ext cx="5586984" cy="256032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2944368" y="3090672"/>
            <a:ext cx="5532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Act and level the event belongs to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11480" y="3346704"/>
            <a:ext cx="151790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466344" y="33649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event_type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993392" y="3346704"/>
            <a:ext cx="83210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2048256" y="336499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889504" y="3346704"/>
            <a:ext cx="558698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2944368" y="3364992"/>
            <a:ext cx="5532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puzzle_attempt, puzzle_complete, lily_query, hint_shown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11480" y="3621024"/>
            <a:ext cx="1517904" cy="256032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466344" y="363931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993392" y="3621024"/>
            <a:ext cx="832104" cy="256032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2048256" y="363931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889504" y="3621024"/>
            <a:ext cx="5586984" cy="256032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2944368" y="3639312"/>
            <a:ext cx="5532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 milliseconds. used to calculate time per level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11480" y="3895344"/>
            <a:ext cx="151790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466344" y="39136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attempt_count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993392" y="3895344"/>
            <a:ext cx="83210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2048256" y="39136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889504" y="3895344"/>
            <a:ext cx="558698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2944368" y="3913632"/>
            <a:ext cx="5532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attempts before level completion (error rate)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11480" y="4169664"/>
            <a:ext cx="1517904" cy="256032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466344" y="41879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lily_query_text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993392" y="4169664"/>
            <a:ext cx="832104" cy="256032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2048256" y="418795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889504" y="4169664"/>
            <a:ext cx="5586984" cy="256032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2944368" y="4187952"/>
            <a:ext cx="5532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the player types asked to Lily (no name or ID attached)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11480" y="4443984"/>
            <a:ext cx="151790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466344" y="44622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concept_id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1993392" y="4443984"/>
            <a:ext cx="83210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/>
          <p:nvPr/>
        </p:nvSpPr>
        <p:spPr>
          <a:xfrm>
            <a:off x="2048256" y="446227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2889504" y="4443984"/>
            <a:ext cx="558698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/>
          <p:nvPr/>
        </p:nvSpPr>
        <p:spPr>
          <a:xfrm>
            <a:off x="2944368" y="4462272"/>
            <a:ext cx="5532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chatbot topic this event is about (e.g. intent, entity)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11480" y="4718304"/>
            <a:ext cx="1517904" cy="256032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Text 58"/>
          <p:cNvSpPr/>
          <p:nvPr/>
        </p:nvSpPr>
        <p:spPr>
          <a:xfrm>
            <a:off x="466344" y="47365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1993392" y="4718304"/>
            <a:ext cx="832104" cy="256032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Text 60"/>
          <p:cNvSpPr/>
          <p:nvPr/>
        </p:nvSpPr>
        <p:spPr>
          <a:xfrm>
            <a:off x="2048256" y="473659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2889504" y="4718304"/>
            <a:ext cx="5586984" cy="256032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62"/>
          <p:cNvSpPr/>
          <p:nvPr/>
        </p:nvSpPr>
        <p:spPr>
          <a:xfrm>
            <a:off x="2944368" y="4736592"/>
            <a:ext cx="5532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player got the puzzle right on this try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2651760" cy="96012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21208" y="109728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Segoe UI Emoji,Calibri" pitchFamily="34" charset="0"/>
                <a:ea typeface="Segoe UI Emoji,Calibri" pitchFamily="34" charset="-122"/>
                <a:cs typeface="Segoe UI Emoji,Calibri" pitchFamily="34" charset="-120"/>
              </a:rPr>
              <a:t>Unity 6 (C#)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21208" y="1408176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 UI, Ghost animations, WebGL deployment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1005840"/>
            <a:ext cx="2651760" cy="96012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355848" y="109728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Segoe UI Emoji,Calibri" pitchFamily="34" charset="0"/>
                <a:ea typeface="Segoe UI Emoji,Calibri" pitchFamily="34" charset="-122"/>
                <a:cs typeface="Segoe UI Emoji,Calibri" pitchFamily="34" charset="-120"/>
              </a:rPr>
              <a:t>Node.js / TypeScript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355848" y="1408176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layer, Lily dialogue, Ollama bridge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80760" y="1005840"/>
            <a:ext cx="2651760" cy="960120"/>
          </a:xfrm>
          <a:prstGeom prst="rect">
            <a:avLst/>
          </a:prstGeom>
          <a:solidFill>
            <a:srgbClr val="D0D8E8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190488" y="109728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A1A1A"/>
                </a:solidFill>
                <a:latin typeface="Segoe UI Emoji,Calibri" pitchFamily="34" charset="0"/>
                <a:ea typeface="Segoe UI Emoji,Calibri" pitchFamily="34" charset="-122"/>
                <a:cs typeface="Segoe UI Emoji,Calibri" pitchFamily="34" charset="-120"/>
              </a:rPr>
              <a:t>Ollama +</a:t>
            </a:r>
            <a:r>
              <a:rPr lang="zh-TW" altLang="en-US" sz="1350" b="1" dirty="0">
                <a:solidFill>
                  <a:srgbClr val="1A1A1A"/>
                </a:solidFill>
                <a:latin typeface="Segoe UI Emoji,Calibri" pitchFamily="34" charset="0"/>
                <a:ea typeface="Segoe UI Emoji,Calibri" pitchFamily="34" charset="-122"/>
                <a:cs typeface="Segoe UI Emoji,Calibri" pitchFamily="34" charset="-120"/>
              </a:rPr>
              <a:t> </a:t>
            </a:r>
            <a:r>
              <a:rPr lang="en-US" altLang="zh-TW" sz="1350" b="1" dirty="0">
                <a:solidFill>
                  <a:srgbClr val="1A1A1A"/>
                </a:solidFill>
                <a:latin typeface="Segoe UI Emoji,Calibri" pitchFamily="34" charset="0"/>
                <a:ea typeface="Segoe UI Emoji,Calibri" pitchFamily="34" charset="-122"/>
                <a:cs typeface="Segoe UI Emoji,Calibri" pitchFamily="34" charset="-120"/>
              </a:rPr>
              <a:t>G</a:t>
            </a:r>
            <a:r>
              <a:rPr lang="en-US" sz="1350" b="1" dirty="0">
                <a:solidFill>
                  <a:srgbClr val="1A1A1A"/>
                </a:solidFill>
                <a:latin typeface="Segoe UI Emoji,Calibri" pitchFamily="34" charset="0"/>
                <a:ea typeface="Segoe UI Emoji,Calibri" pitchFamily="34" charset="-122"/>
                <a:cs typeface="Segoe UI Emoji,Calibri" pitchFamily="34" charset="-120"/>
              </a:rPr>
              <a:t>ranite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90488" y="1408176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LLM, system prompt focused on course content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2130552"/>
            <a:ext cx="2651760" cy="96012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21208" y="222199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Segoe UI Emoji,Calibri" pitchFamily="34" charset="0"/>
                <a:ea typeface="Segoe UI Emoji,Calibri" pitchFamily="34" charset="-122"/>
                <a:cs typeface="Segoe UI Emoji,Calibri" pitchFamily="34" charset="-120"/>
              </a:rPr>
              <a:t>SQLite + Firebase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21208" y="253288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progress store + optional cloud backup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46120" y="2130552"/>
            <a:ext cx="2651760" cy="96012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355848" y="222199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Segoe UI Emoji,Calibri" pitchFamily="34" charset="0"/>
                <a:ea typeface="Segoe UI Emoji,Calibri" pitchFamily="34" charset="-122"/>
                <a:cs typeface="Segoe UI Emoji,Calibri" pitchFamily="34" charset="-120"/>
              </a:rPr>
              <a:t>Figma</a:t>
            </a:r>
            <a:r>
              <a:rPr lang="en-US" altLang="zh-TW" sz="1350" b="1" dirty="0">
                <a:solidFill>
                  <a:srgbClr val="1A1A1A"/>
                </a:solidFill>
                <a:latin typeface="Segoe UI Emoji,Calibri" pitchFamily="34" charset="0"/>
                <a:ea typeface="Segoe UI Emoji,Calibri" pitchFamily="34" charset="-122"/>
                <a:cs typeface="Segoe UI Emoji,Calibri" pitchFamily="34" charset="-120"/>
              </a:rPr>
              <a:t>(Optional)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355848" y="253288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design, UI wireframes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80760" y="2130552"/>
            <a:ext cx="2651760" cy="96012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190488" y="222199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Segoe UI Emoji,Calibri" pitchFamily="34" charset="0"/>
                <a:ea typeface="Segoe UI Emoji,Calibri" pitchFamily="34" charset="-122"/>
                <a:cs typeface="Segoe UI Emoji,Calibri" pitchFamily="34" charset="-120"/>
              </a:rPr>
              <a:t>Git / GitHub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190488" y="2532888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control, collaboration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1480" y="3218688"/>
            <a:ext cx="8321040" cy="713232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548640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539126"/>
            <a:ext cx="1828800" cy="32004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57200" y="353912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(WebGL)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95144" y="3676286"/>
            <a:ext cx="128016" cy="54864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2395728" y="3621422"/>
            <a:ext cx="73152" cy="164592"/>
          </a:xfrm>
          <a:prstGeom prst="triangle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2606040" y="3539126"/>
            <a:ext cx="1828800" cy="32004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2606040" y="353912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443984" y="3676286"/>
            <a:ext cx="128016" cy="54864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4544568" y="3621422"/>
            <a:ext cx="73152" cy="164592"/>
          </a:xfrm>
          <a:prstGeom prst="triangle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4754880" y="3539126"/>
            <a:ext cx="1828800" cy="320040"/>
          </a:xfrm>
          <a:prstGeom prst="rect">
            <a:avLst/>
          </a:prstGeom>
          <a:solidFill>
            <a:srgbClr val="6A3D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4754880" y="353912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(local LLM)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92824" y="3676286"/>
            <a:ext cx="128016" cy="54864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6693408" y="3621422"/>
            <a:ext cx="73152" cy="164592"/>
          </a:xfrm>
          <a:prstGeom prst="triangle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6903720" y="3539126"/>
            <a:ext cx="1828800" cy="32004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6903720" y="353912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Firebase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Specifications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411480" y="1316736"/>
            <a:ext cx="4206240" cy="278892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17007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24 levels, Prologue + 6 Acts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20848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 Ghost language grows as concepts unlock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468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 Lily via Ollama, focused on course content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8529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 Embedded pre and post quiz using similar questions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32369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 Game logs: player actions, errors, recovery time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36210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  RQ2 A/B: LLM vs static hint text</a:t>
            </a:r>
            <a:r>
              <a:rPr lang="en-US" altLang="zh-TW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92040" y="1316736"/>
            <a:ext cx="3840480" cy="2788920"/>
          </a:xfrm>
          <a:prstGeom prst="rect">
            <a:avLst/>
          </a:prstGeom>
          <a:solidFill>
            <a:srgbClr val="D0D8E8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02920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47488" y="170078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NF1  WebGL </a:t>
            </a:r>
            <a:r>
              <a:rPr lang="en-US" altLang="zh-TW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 required</a:t>
            </a:r>
            <a:r>
              <a:rPr lang="en-US" altLang="zh-TW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47488" y="20848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NF2  LLM response ≤ 5 s (local Ollama)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47488" y="24688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NF3  Local data only</a:t>
            </a:r>
            <a:r>
              <a:rPr lang="zh-TW" alt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GB" altLang="zh-TW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anonymous sessions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47488" y="28529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NF4  KCL ethics approval before study(optional)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47488" y="32369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NF5  Each level: 3 to 8 min play time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In-Game Log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411480" y="987552"/>
            <a:ext cx="8321040" cy="420624"/>
          </a:xfrm>
          <a:prstGeom prst="rect">
            <a:avLst/>
          </a:prstGeom>
          <a:solidFill>
            <a:srgbClr val="D0D8E8"/>
          </a:solidFill>
          <a:ln w="63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48640" y="987552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Approach: Design-Based Research (Brown, 1992) + in-game log analysis. no controlled experiment is needed at this stage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4206240" cy="278892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Log (Automatic)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4114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48640" y="18928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 per level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121408" y="189280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attempts before completing each puzzle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4114800" cy="329184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48640" y="22585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Help-seeking frequency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121408" y="22585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the player clicks Ask Lily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4114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48640" y="262432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Lily questions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121408" y="262432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questions players type. patterns reveal confusion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4114800" cy="329184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48640" y="29900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 level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121408" y="299008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taking unusually long flag design problems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337560"/>
            <a:ext cx="4114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48640" y="33558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121408" y="335584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Acts cause abandonment (scope / difficulty issue)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703320"/>
            <a:ext cx="4114800" cy="329184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48640" y="37216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Concept-specific accuracy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121408" y="372160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chatbot concepts are hardest to grasp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92040" y="1508760"/>
            <a:ext cx="3840480" cy="2788920"/>
          </a:xfrm>
          <a:prstGeom prst="rect">
            <a:avLst/>
          </a:prstGeom>
          <a:solidFill>
            <a:srgbClr val="E2F0D9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502920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Logs Tell Us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0" y="192024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High error rate on Act X: the puzzle needs to be redesigned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0" y="2368296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Many Lily questions on concept Y: the explanation needs to be clearer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0" y="2816352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Patterns in Lily questions show common misunderstandings to fix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0" y="3264408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Players stop at Act Z: the pacing or difficulty needs fixing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0" y="3712464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If the logs look good, a small user study can be considered later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11480" y="4443984"/>
            <a:ext cx="832104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548640" y="444398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experiment (A/B with participants) is considered only if development goes well. no ethics approval is needed at this stage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Progress &amp; Challenges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777240" y="987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310896" cy="32004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11480" y="987552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Game Design Document v2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17647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Technology stack finalised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1579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Game concept + character specs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25511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Literature review v6 (18 papers, 3 RQs)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11480" y="3063240"/>
            <a:ext cx="310896" cy="32004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11480" y="3063240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4472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Unity: building simple GameObjects &amp; components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8221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TypeScript / Node.js: self-study for backend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1970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Writing literature review chapter (draft)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98755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for Discussion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754880" y="987552"/>
            <a:ext cx="219456" cy="320040"/>
          </a:xfrm>
          <a:prstGeom prst="rect">
            <a:avLst/>
          </a:prstGeom>
          <a:solidFill>
            <a:srgbClr val="2B57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754880" y="987552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1371600"/>
            <a:ext cx="3977640" cy="64008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873752" y="14081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73752" y="16459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levels for August 2026. is a fallback (18 + 6 optional) sensible?</a:t>
            </a:r>
            <a:endParaRPr lang="en-US" sz="115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DD59238-6108-B356-BD66-0177AC611810}"/>
              </a:ext>
            </a:extLst>
          </p:cNvPr>
          <p:cNvGrpSpPr/>
          <p:nvPr/>
        </p:nvGrpSpPr>
        <p:grpSpPr>
          <a:xfrm>
            <a:off x="4754880" y="2011680"/>
            <a:ext cx="3977640" cy="640080"/>
            <a:chOff x="4754880" y="3511296"/>
            <a:chExt cx="3977640" cy="640080"/>
          </a:xfrm>
        </p:grpSpPr>
        <p:sp>
          <p:nvSpPr>
            <p:cNvPr id="29" name="Shape 27"/>
            <p:cNvSpPr/>
            <p:nvPr/>
          </p:nvSpPr>
          <p:spPr>
            <a:xfrm>
              <a:off x="4754880" y="3511296"/>
              <a:ext cx="3977640" cy="640080"/>
            </a:xfrm>
            <a:prstGeom prst="rect">
              <a:avLst/>
            </a:prstGeom>
            <a:solidFill>
              <a:srgbClr val="D0D8E8"/>
            </a:solidFill>
            <a:ln w="6350">
              <a:solidFill>
                <a:srgbClr val="CCCCCC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Text 28"/>
            <p:cNvSpPr/>
            <p:nvPr/>
          </p:nvSpPr>
          <p:spPr>
            <a:xfrm>
              <a:off x="4873752" y="3547872"/>
              <a:ext cx="9144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2B579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Lily prompt</a:t>
              </a:r>
              <a:endParaRPr lang="en-US" sz="12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4873752" y="3785616"/>
              <a:ext cx="36576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44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How strict should the system prompt be to stop Lily from giving wrong answers?</a:t>
              </a:r>
              <a:endParaRPr lang="en-US" sz="115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1778</Words>
  <Application>Microsoft Office PowerPoint</Application>
  <PresentationFormat>On-screen Show (16:9)</PresentationFormat>
  <Paragraphs>281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Segoe UI Emoji,Calibri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Ghost Chatbot — 3rd Group Meeting</dc:title>
  <dc:subject>PptxGenJS Presentation</dc:subject>
  <dc:creator>PptxGenJS</dc:creator>
  <cp:lastModifiedBy>Chao-Yang Tang</cp:lastModifiedBy>
  <cp:revision>19</cp:revision>
  <dcterms:created xsi:type="dcterms:W3CDTF">2026-03-27T01:01:48Z</dcterms:created>
  <dcterms:modified xsi:type="dcterms:W3CDTF">2026-03-27T02:33:44Z</dcterms:modified>
</cp:coreProperties>
</file>