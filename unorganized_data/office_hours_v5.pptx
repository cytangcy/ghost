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62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87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5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914400"/>
          </a:xfrm>
          <a:prstGeom prst="rect">
            <a:avLst/>
          </a:prstGeom>
          <a:solidFill>
            <a:srgbClr val="F4F4F4"/>
          </a:solidFill>
          <a:ln w="889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84048" cy="9144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50976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course is passive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50976" y="17373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text, multiple choice only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31920" cy="914400"/>
          </a:xfrm>
          <a:prstGeom prst="rect">
            <a:avLst/>
          </a:prstGeom>
          <a:solidFill>
            <a:srgbClr val="F4F4F4"/>
          </a:solidFill>
          <a:ln w="889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84048" cy="9144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game for chatbot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0976" y="27249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game-based learning research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3931920" cy="914400"/>
          </a:xfrm>
          <a:prstGeom prst="rect">
            <a:avLst/>
          </a:prstGeom>
          <a:solidFill>
            <a:srgbClr val="F4F4F4"/>
          </a:solidFill>
          <a:ln w="889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384048" cy="9144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" y="3364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not used for learning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0976" y="37124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decoration, not mechanism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0" y="987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3931920" cy="1371600"/>
          </a:xfrm>
          <a:prstGeom prst="rect">
            <a:avLst/>
          </a:prstGeom>
          <a:solidFill>
            <a:srgbClr val="F4F4F4"/>
          </a:solidFill>
          <a:ln w="889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50292" cy="13716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901184" y="142646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learning active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01184" y="1773936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makes design decisions with real consequences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779776"/>
            <a:ext cx="3931920" cy="1371600"/>
          </a:xfrm>
          <a:prstGeom prst="rect">
            <a:avLst/>
          </a:prstGeom>
          <a:solidFill>
            <a:srgbClr val="F4F4F4"/>
          </a:solidFill>
          <a:ln w="889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754880" y="2779776"/>
            <a:ext cx="50292" cy="13716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901184" y="29077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design thinking visible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01184" y="325526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Ghost's language shows what the player has learned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mechanisms. Each provides something the others cannot.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2606040" cy="65836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85216" y="131673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Game-Based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2606040" cy="2743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5216" y="19751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ENGAGEMENT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2606040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85216" y="2322576"/>
            <a:ext cx="244144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applies each chatbot concept to solve a puzzle.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= understanding.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decorative game layer.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32504"/>
            <a:ext cx="2606040" cy="3200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5216" y="403250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Drives: active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1316736"/>
            <a:ext cx="2606040" cy="65836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01568" y="131673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73552" y="1975104"/>
            <a:ext cx="2606040" cy="2743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401568" y="19751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ENGAGEMENT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73552" y="2249424"/>
            <a:ext cx="2606040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01568" y="2322576"/>
            <a:ext cx="244144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gives meaning to puzzles.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Ghost's growth gives emotional stakes.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stay motivated through 8 to 24 levels.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73552" y="4032504"/>
            <a:ext cx="2606040" cy="3200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401568" y="403250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Drives: sustained motivation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316736"/>
            <a:ext cx="2606040" cy="65836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17920" y="1316736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89904" y="1975104"/>
            <a:ext cx="2606040" cy="2743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17920" y="19751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2249424"/>
            <a:ext cx="2606040" cy="21305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217920" y="2322576"/>
            <a:ext cx="244144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 gives hints as player makes errors.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shows learning progress visibly.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become learning steps.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89904" y="4032504"/>
            <a:ext cx="2606040" cy="3200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17920" y="4032504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Drives: error recovery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" y="4535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all three must work together. Removing any one reduces the others.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from Last Meeting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C15D1D-EEDB-DF27-67A3-2DBCE00B7818}"/>
              </a:ext>
            </a:extLst>
          </p:cNvPr>
          <p:cNvGrpSpPr/>
          <p:nvPr/>
        </p:nvGrpSpPr>
        <p:grpSpPr>
          <a:xfrm>
            <a:off x="1207970" y="1152144"/>
            <a:ext cx="6343048" cy="3401568"/>
            <a:chOff x="457200" y="1261872"/>
            <a:chExt cx="6343048" cy="3401568"/>
          </a:xfrm>
        </p:grpSpPr>
        <p:sp>
          <p:nvSpPr>
            <p:cNvPr id="5" name="Shape 3"/>
            <p:cNvSpPr/>
            <p:nvPr/>
          </p:nvSpPr>
          <p:spPr>
            <a:xfrm>
              <a:off x="457200" y="1261872"/>
              <a:ext cx="1463040" cy="310896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1261872"/>
              <a:ext cx="1463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AREA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956816" y="1261872"/>
              <a:ext cx="4843432" cy="310896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6"/>
            <p:cNvSpPr/>
            <p:nvPr/>
          </p:nvSpPr>
          <p:spPr>
            <a:xfrm>
              <a:off x="2054994" y="1261872"/>
              <a:ext cx="246214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ISSUE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57200" y="1609344"/>
              <a:ext cx="1463040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512064" y="1700784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RQ design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956816" y="1609344"/>
              <a:ext cx="4843432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12"/>
            <p:cNvSpPr/>
            <p:nvPr/>
          </p:nvSpPr>
          <p:spPr>
            <a:xfrm>
              <a:off x="2011680" y="1700784"/>
              <a:ext cx="31667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RQ still depended on a user experiment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2231136"/>
              <a:ext cx="1463040" cy="5669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16"/>
            <p:cNvSpPr/>
            <p:nvPr/>
          </p:nvSpPr>
          <p:spPr>
            <a:xfrm>
              <a:off x="512064" y="2322576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Literature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956815" y="2231136"/>
              <a:ext cx="4843431" cy="5669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8"/>
            <p:cNvSpPr/>
            <p:nvPr/>
          </p:nvSpPr>
          <p:spPr>
            <a:xfrm>
              <a:off x="2011680" y="2322576"/>
              <a:ext cx="24505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recent LLM papers after 2022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2852928"/>
              <a:ext cx="1463040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22"/>
            <p:cNvSpPr/>
            <p:nvPr/>
          </p:nvSpPr>
          <p:spPr>
            <a:xfrm>
              <a:off x="512064" y="2944368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 scope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956816" y="2852928"/>
              <a:ext cx="4843432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 24"/>
            <p:cNvSpPr/>
            <p:nvPr/>
          </p:nvSpPr>
          <p:spPr>
            <a:xfrm>
              <a:off x="2011680" y="2944368"/>
              <a:ext cx="31667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Too many levels and too many puzzle types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3474720"/>
              <a:ext cx="1463040" cy="5669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 28"/>
            <p:cNvSpPr/>
            <p:nvPr/>
          </p:nvSpPr>
          <p:spPr>
            <a:xfrm>
              <a:off x="512064" y="3566160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Evaluation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956816" y="3474720"/>
              <a:ext cx="4843432" cy="5669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 30"/>
            <p:cNvSpPr/>
            <p:nvPr/>
          </p:nvSpPr>
          <p:spPr>
            <a:xfrm>
              <a:off x="2011680" y="3566160"/>
              <a:ext cx="24505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/>
                <a:t>Same as RQ design issue</a:t>
              </a:r>
            </a:p>
          </p:txBody>
        </p:sp>
        <p:sp>
          <p:nvSpPr>
            <p:cNvPr id="35" name="Shape 33"/>
            <p:cNvSpPr/>
            <p:nvPr/>
          </p:nvSpPr>
          <p:spPr>
            <a:xfrm>
              <a:off x="457200" y="4096512"/>
              <a:ext cx="1463040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Text 34"/>
            <p:cNvSpPr/>
            <p:nvPr/>
          </p:nvSpPr>
          <p:spPr>
            <a:xfrm>
              <a:off x="512064" y="4187952"/>
              <a:ext cx="135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1956816" y="4096512"/>
              <a:ext cx="4843430" cy="566928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 36"/>
            <p:cNvSpPr/>
            <p:nvPr/>
          </p:nvSpPr>
          <p:spPr>
            <a:xfrm>
              <a:off x="2011680" y="4187952"/>
              <a:ext cx="245059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fallback if LLM fails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3E3F96-07D7-E47F-1016-57E416FF1C4F}"/>
              </a:ext>
            </a:extLst>
          </p:cNvPr>
          <p:cNvGrpSpPr/>
          <p:nvPr/>
        </p:nvGrpSpPr>
        <p:grpSpPr>
          <a:xfrm>
            <a:off x="484151" y="867092"/>
            <a:ext cx="8229600" cy="1975104"/>
            <a:chOff x="457200" y="1167304"/>
            <a:chExt cx="8229600" cy="1975104"/>
          </a:xfrm>
        </p:grpSpPr>
        <p:sp>
          <p:nvSpPr>
            <p:cNvPr id="6" name="Shape 4"/>
            <p:cNvSpPr/>
            <p:nvPr/>
          </p:nvSpPr>
          <p:spPr>
            <a:xfrm>
              <a:off x="457200" y="1167304"/>
              <a:ext cx="8229600" cy="950976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Shape 5"/>
            <p:cNvSpPr/>
            <p:nvPr/>
          </p:nvSpPr>
          <p:spPr>
            <a:xfrm>
              <a:off x="457200" y="1167304"/>
              <a:ext cx="658368" cy="950976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1167304"/>
              <a:ext cx="658368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RQ1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225296" y="1240456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Does each puzzle correctly teach the chatbot concept for its Act?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25296" y="1569640"/>
              <a:ext cx="51206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Curriculum mapping table. </a:t>
              </a:r>
              <a:r>
                <a:rPr lang="en-US" altLang="zh-TW" sz="11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</a:t>
              </a:r>
              <a:r>
                <a:rPr lang="en-US" sz="11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uzzle must REQUIRE the player to apply the concept.</a:t>
              </a:r>
              <a:endParaRPr lang="en-US" sz="11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437376" y="1203880"/>
              <a:ext cx="2176272" cy="877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92240" y="1258744"/>
              <a:ext cx="2066544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2191432"/>
              <a:ext cx="8229600" cy="950976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" y="2191432"/>
              <a:ext cx="658368" cy="950976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" y="2191432"/>
              <a:ext cx="658368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RQ2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225296" y="2264584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Does </a:t>
              </a:r>
              <a:r>
                <a:rPr lang="en-US" altLang="zh-TW" sz="14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</a:t>
              </a:r>
              <a:r>
                <a:rPr lang="en-US" sz="14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stay on topic for that Act and level?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225296" y="2593768"/>
              <a:ext cx="51206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 prompts (1 per Act x 3 hint tiers). Each reply scored: correct topic? correct hint level? no factual errors? Run 3 times each.</a:t>
              </a:r>
              <a:endParaRPr lang="en-US" sz="11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437376" y="2228008"/>
              <a:ext cx="2176272" cy="877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7"/>
            <p:cNvSpPr/>
            <p:nvPr/>
          </p:nvSpPr>
          <p:spPr>
            <a:xfrm>
              <a:off x="6492240" y="2282872"/>
              <a:ext cx="2066544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9999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score per Act..</a:t>
              </a:r>
              <a:endParaRPr lang="en-US" sz="1050" dirty="0"/>
            </a:p>
          </p:txBody>
        </p:sp>
      </p:grpSp>
      <p:sp>
        <p:nvSpPr>
          <p:cNvPr id="29" name="Text 17">
            <a:extLst>
              <a:ext uri="{FF2B5EF4-FFF2-40B4-BE49-F238E27FC236}">
                <a16:creationId xmlns:a16="http://schemas.microsoft.com/office/drawing/2014/main" id="{26244957-E51D-B916-4557-E91533669D82}"/>
              </a:ext>
            </a:extLst>
          </p:cNvPr>
          <p:cNvSpPr/>
          <p:nvPr/>
        </p:nvSpPr>
        <p:spPr>
          <a:xfrm>
            <a:off x="6492240" y="1785326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 is valid only if it cannot be solved without using the concept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80652D-3088-6153-FD13-E072272E4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35" y="2953861"/>
            <a:ext cx="4252552" cy="20767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0D18A34-B224-3882-7509-0611AA5690DE}"/>
              </a:ext>
            </a:extLst>
          </p:cNvPr>
          <p:cNvGrpSpPr/>
          <p:nvPr/>
        </p:nvGrpSpPr>
        <p:grpSpPr>
          <a:xfrm>
            <a:off x="514951" y="1088617"/>
            <a:ext cx="7372952" cy="3346704"/>
            <a:chOff x="4754880" y="987552"/>
            <a:chExt cx="3931920" cy="3346704"/>
          </a:xfrm>
        </p:grpSpPr>
        <p:sp>
          <p:nvSpPr>
            <p:cNvPr id="25" name="Text 23"/>
            <p:cNvSpPr/>
            <p:nvPr/>
          </p:nvSpPr>
          <p:spPr>
            <a:xfrm>
              <a:off x="4754880" y="987552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RECENT WORK (2024 to 2025)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754880" y="1280160"/>
              <a:ext cx="3931920" cy="969264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Shape 25"/>
            <p:cNvSpPr/>
            <p:nvPr/>
          </p:nvSpPr>
          <p:spPr>
            <a:xfrm>
              <a:off x="4754880" y="1280160"/>
              <a:ext cx="50292" cy="969264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26"/>
            <p:cNvSpPr/>
            <p:nvPr/>
          </p:nvSpPr>
          <p:spPr>
            <a:xfrm>
              <a:off x="4901184" y="1371600"/>
              <a:ext cx="3657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Huber et al. (2024)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901184" y="162763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Game structure reduces LLM over-reliance.  </a:t>
              </a:r>
            </a:p>
            <a:p>
              <a:r>
                <a:rPr lang="en-US" sz="11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Control how students use LLM.</a:t>
              </a:r>
              <a:r>
                <a:rPr lang="zh-TW" altLang="en-US" sz="11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901184" y="1975104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9999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Limit: Perspective piece, not an experiment.</a:t>
              </a:r>
              <a:endParaRPr lang="en-US" sz="10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754880" y="2322576"/>
              <a:ext cx="3931920" cy="969264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Shape 30"/>
            <p:cNvSpPr/>
            <p:nvPr/>
          </p:nvSpPr>
          <p:spPr>
            <a:xfrm>
              <a:off x="4754880" y="2322576"/>
              <a:ext cx="50292" cy="969264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 31"/>
            <p:cNvSpPr/>
            <p:nvPr/>
          </p:nvSpPr>
          <p:spPr>
            <a:xfrm>
              <a:off x="4901184" y="2414016"/>
              <a:ext cx="3657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Goslen et al. (2025)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901184" y="2670048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generates adaptive plans inside Crystal Island game. Plans matched student behavior in 144 students.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901184" y="3017520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9999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Limit: Plan generation only, not hint delivery.</a:t>
              </a:r>
              <a:endParaRPr lang="en-US" sz="10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754880" y="3364992"/>
              <a:ext cx="3931920" cy="969264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Shape 35"/>
            <p:cNvSpPr/>
            <p:nvPr/>
          </p:nvSpPr>
          <p:spPr>
            <a:xfrm>
              <a:off x="4754880" y="3364992"/>
              <a:ext cx="50292" cy="969264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 36"/>
            <p:cNvSpPr/>
            <p:nvPr/>
          </p:nvSpPr>
          <p:spPr>
            <a:xfrm>
              <a:off x="4901184" y="3456432"/>
              <a:ext cx="3657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Gong et al. (2025)</a:t>
              </a:r>
              <a:endParaRPr lang="en-US" sz="12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901184" y="3712464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scaffolding in a game improved learning and reduced cognitive load. Higher-load students asked LLM more.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901184" y="4059936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9999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Limit: Elementary students, not graduate level.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CC171D-D1F6-2F3C-AB8B-2796A7CFD87D}"/>
              </a:ext>
            </a:extLst>
          </p:cNvPr>
          <p:cNvGrpSpPr/>
          <p:nvPr/>
        </p:nvGrpSpPr>
        <p:grpSpPr>
          <a:xfrm>
            <a:off x="566928" y="1407983"/>
            <a:ext cx="2487168" cy="1371600"/>
            <a:chOff x="457200" y="987552"/>
            <a:chExt cx="2487168" cy="1371600"/>
          </a:xfrm>
        </p:grpSpPr>
        <p:sp>
          <p:nvSpPr>
            <p:cNvPr id="4" name="Shape 2"/>
            <p:cNvSpPr/>
            <p:nvPr/>
          </p:nvSpPr>
          <p:spPr>
            <a:xfrm>
              <a:off x="457200" y="987552"/>
              <a:ext cx="2487168" cy="1371600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Shape 3"/>
            <p:cNvSpPr/>
            <p:nvPr/>
          </p:nvSpPr>
          <p:spPr>
            <a:xfrm>
              <a:off x="2596896" y="987552"/>
              <a:ext cx="347472" cy="347472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4"/>
            <p:cNvSpPr/>
            <p:nvPr/>
          </p:nvSpPr>
          <p:spPr>
            <a:xfrm>
              <a:off x="2596896" y="98755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66928" y="1078992"/>
              <a:ext cx="19385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Level scope</a:t>
              </a:r>
              <a:endParaRPr lang="en-US" sz="12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30352" y="1371600"/>
              <a:ext cx="2340864" cy="14630"/>
            </a:xfrm>
            <a:prstGeom prst="rect">
              <a:avLst/>
            </a:prstGeom>
            <a:solidFill>
              <a:srgbClr val="DDDDDD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7"/>
            <p:cNvSpPr/>
            <p:nvPr/>
          </p:nvSpPr>
          <p:spPr>
            <a:xfrm>
              <a:off x="566928" y="1444752"/>
              <a:ext cx="2267712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Minimum 1 level per Act (8 total)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2 per Act (16)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Stretch 3 per Act (24)</a:t>
              </a:r>
              <a:endParaRPr lang="en-US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6F198C2-EF7D-6245-7956-46E2163B388E}"/>
              </a:ext>
            </a:extLst>
          </p:cNvPr>
          <p:cNvGrpSpPr/>
          <p:nvPr/>
        </p:nvGrpSpPr>
        <p:grpSpPr>
          <a:xfrm>
            <a:off x="3246120" y="1407983"/>
            <a:ext cx="2487168" cy="1371600"/>
            <a:chOff x="3136392" y="987552"/>
            <a:chExt cx="2487168" cy="1371600"/>
          </a:xfrm>
        </p:grpSpPr>
        <p:sp>
          <p:nvSpPr>
            <p:cNvPr id="10" name="Shape 8"/>
            <p:cNvSpPr/>
            <p:nvPr/>
          </p:nvSpPr>
          <p:spPr>
            <a:xfrm>
              <a:off x="3136392" y="987552"/>
              <a:ext cx="2487168" cy="1371600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Shape 9"/>
            <p:cNvSpPr/>
            <p:nvPr/>
          </p:nvSpPr>
          <p:spPr>
            <a:xfrm>
              <a:off x="5276088" y="987552"/>
              <a:ext cx="347472" cy="347472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5276088" y="98755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46120" y="1078992"/>
              <a:ext cx="19385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Puzzle types</a:t>
              </a:r>
              <a:endParaRPr lang="en-US" sz="12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09544" y="1371600"/>
              <a:ext cx="2340864" cy="14630"/>
            </a:xfrm>
            <a:prstGeom prst="rect">
              <a:avLst/>
            </a:prstGeom>
            <a:solidFill>
              <a:srgbClr val="DDDDDD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13"/>
            <p:cNvSpPr/>
            <p:nvPr/>
          </p:nvSpPr>
          <p:spPr>
            <a:xfrm>
              <a:off x="3246120" y="1444752"/>
              <a:ext cx="2267712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Fewer types</a:t>
              </a:r>
              <a:r>
                <a:rPr lang="zh-TW" alt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GB" altLang="zh-TW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8 -&gt; 3 </a:t>
              </a:r>
              <a:r>
                <a:rPr lang="en-US" altLang="zh-TW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</a:t>
              </a:r>
              <a:r>
                <a:rPr lang="zh-TW" alt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GB" altLang="zh-TW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2D967A-746E-F2FC-9795-BB29EB62197C}"/>
              </a:ext>
            </a:extLst>
          </p:cNvPr>
          <p:cNvGrpSpPr/>
          <p:nvPr/>
        </p:nvGrpSpPr>
        <p:grpSpPr>
          <a:xfrm>
            <a:off x="5925312" y="1407983"/>
            <a:ext cx="2487168" cy="1371600"/>
            <a:chOff x="5815584" y="987552"/>
            <a:chExt cx="2487168" cy="1371600"/>
          </a:xfrm>
        </p:grpSpPr>
        <p:sp>
          <p:nvSpPr>
            <p:cNvPr id="16" name="Shape 14"/>
            <p:cNvSpPr/>
            <p:nvPr/>
          </p:nvSpPr>
          <p:spPr>
            <a:xfrm>
              <a:off x="5815584" y="987552"/>
              <a:ext cx="2487168" cy="1371600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Shape 15"/>
            <p:cNvSpPr/>
            <p:nvPr/>
          </p:nvSpPr>
          <p:spPr>
            <a:xfrm>
              <a:off x="7955280" y="987552"/>
              <a:ext cx="347472" cy="347472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16"/>
            <p:cNvSpPr/>
            <p:nvPr/>
          </p:nvSpPr>
          <p:spPr>
            <a:xfrm>
              <a:off x="7955280" y="98755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25312" y="1078992"/>
              <a:ext cx="19385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fallback</a:t>
              </a:r>
              <a:endParaRPr lang="en-US" sz="12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888736" y="1371600"/>
              <a:ext cx="2340864" cy="14630"/>
            </a:xfrm>
            <a:prstGeom prst="rect">
              <a:avLst/>
            </a:prstGeom>
            <a:solidFill>
              <a:srgbClr val="DDDDDD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 19"/>
            <p:cNvSpPr/>
            <p:nvPr/>
          </p:nvSpPr>
          <p:spPr>
            <a:xfrm>
              <a:off x="5925312" y="1444752"/>
              <a:ext cx="2267712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Ollama fails: Lily shows multiple choice hint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 picks one then can still discuss freely</a:t>
              </a:r>
              <a:endParaRPr 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AEED5D-25F5-110C-B75B-E6C1B618113C}"/>
              </a:ext>
            </a:extLst>
          </p:cNvPr>
          <p:cNvGrpSpPr/>
          <p:nvPr/>
        </p:nvGrpSpPr>
        <p:grpSpPr>
          <a:xfrm>
            <a:off x="457200" y="3348148"/>
            <a:ext cx="3931920" cy="1371600"/>
            <a:chOff x="457200" y="2487168"/>
            <a:chExt cx="3931920" cy="1371600"/>
          </a:xfrm>
        </p:grpSpPr>
        <p:sp>
          <p:nvSpPr>
            <p:cNvPr id="22" name="Shape 20"/>
            <p:cNvSpPr/>
            <p:nvPr/>
          </p:nvSpPr>
          <p:spPr>
            <a:xfrm>
              <a:off x="457200" y="2487168"/>
              <a:ext cx="3931920" cy="1371600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Shape 21"/>
            <p:cNvSpPr/>
            <p:nvPr/>
          </p:nvSpPr>
          <p:spPr>
            <a:xfrm>
              <a:off x="4041648" y="2487168"/>
              <a:ext cx="347472" cy="347472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22"/>
            <p:cNvSpPr/>
            <p:nvPr/>
          </p:nvSpPr>
          <p:spPr>
            <a:xfrm>
              <a:off x="4041648" y="24871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66928" y="2578608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 chat freedom</a:t>
              </a:r>
              <a:endParaRPr lang="en-US" sz="12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0352" y="2871216"/>
              <a:ext cx="3785616" cy="14630"/>
            </a:xfrm>
            <a:prstGeom prst="rect">
              <a:avLst/>
            </a:prstGeom>
            <a:solidFill>
              <a:srgbClr val="DDDDDD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 25"/>
            <p:cNvSpPr/>
            <p:nvPr/>
          </p:nvSpPr>
          <p:spPr>
            <a:xfrm>
              <a:off x="566928" y="2944368"/>
              <a:ext cx="3712464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 can talk to Lily at any time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waiting and loading screens too</a:t>
              </a:r>
              <a:endParaRPr lang="en-US" sz="1200" dirty="0"/>
            </a:p>
            <a:p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the course, Lily stays on topic for that Act only</a:t>
              </a:r>
              <a:endParaRPr lang="en-US" sz="1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E93F6E-EB45-767E-3393-05C6D0A7C683}"/>
              </a:ext>
            </a:extLst>
          </p:cNvPr>
          <p:cNvGrpSpPr/>
          <p:nvPr/>
        </p:nvGrpSpPr>
        <p:grpSpPr>
          <a:xfrm>
            <a:off x="4642746" y="3348148"/>
            <a:ext cx="3931920" cy="1371600"/>
            <a:chOff x="4754880" y="2487168"/>
            <a:chExt cx="3931920" cy="1371600"/>
          </a:xfrm>
        </p:grpSpPr>
        <p:sp>
          <p:nvSpPr>
            <p:cNvPr id="28" name="Shape 26"/>
            <p:cNvSpPr/>
            <p:nvPr/>
          </p:nvSpPr>
          <p:spPr>
            <a:xfrm>
              <a:off x="4754880" y="2487168"/>
              <a:ext cx="3931920" cy="1371600"/>
            </a:xfrm>
            <a:prstGeom prst="rect">
              <a:avLst/>
            </a:prstGeom>
            <a:solidFill>
              <a:srgbClr val="F4F4F4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Shape 27"/>
            <p:cNvSpPr/>
            <p:nvPr/>
          </p:nvSpPr>
          <p:spPr>
            <a:xfrm>
              <a:off x="8339328" y="2487168"/>
              <a:ext cx="347472" cy="347472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 28"/>
            <p:cNvSpPr/>
            <p:nvPr/>
          </p:nvSpPr>
          <p:spPr>
            <a:xfrm>
              <a:off x="8339328" y="24871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64608" y="2578608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Save progress</a:t>
              </a:r>
              <a:endParaRPr lang="en-US" sz="12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828032" y="2871216"/>
              <a:ext cx="3785616" cy="14630"/>
            </a:xfrm>
            <a:prstGeom prst="rect">
              <a:avLst/>
            </a:prstGeom>
            <a:solidFill>
              <a:srgbClr val="DDDDDD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 31"/>
            <p:cNvSpPr/>
            <p:nvPr/>
          </p:nvSpPr>
          <p:spPr>
            <a:xfrm>
              <a:off x="4864608" y="2944368"/>
              <a:ext cx="3712464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SHA-256 hash of username and password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 stores hash only, never the original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 re-enters same input from any device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Supervisor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99616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RQ design OK?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17726" y="168706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RQs with no user study. Design analysis and system test only. Is this enough for MSc level?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729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9616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count framing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3229" y="311353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is 24 levels. Minimum build is 8 levels (1 per Act). Is that the right way to frame scope?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38953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598</Words>
  <Application>Microsoft Office PowerPoint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Chao-Yang Tang</cp:lastModifiedBy>
  <cp:revision>14</cp:revision>
  <dcterms:created xsi:type="dcterms:W3CDTF">2026-03-31T23:48:26Z</dcterms:created>
  <dcterms:modified xsi:type="dcterms:W3CDTF">2026-04-01T14:18:12Z</dcterms:modified>
</cp:coreProperties>
</file>