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1" r:id="rId4"/>
    <p:sldId id="262" r:id="rId5"/>
    <p:sldId id="267" r:id="rId6"/>
    <p:sldId id="263" r:id="rId7"/>
    <p:sldId id="265" r:id="rId8"/>
    <p:sldId id="264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FE8D-4EBB-CD31-EC0D-700108CC8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31E7A-BC0E-135F-E3D2-AD6F81325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39C1D-48BF-E8D9-C7B8-0CD4F311D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31308-DBCB-5B54-60A8-4FA3DA24B8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8765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accent">
            <a:extLst>
              <a:ext uri="{FF2B5EF4-FFF2-40B4-BE49-F238E27FC236}">
                <a16:creationId xmlns:a16="http://schemas.microsoft.com/office/drawing/2014/main" id="{952A895A-9CD1-461F-839C-023ADE537F12}"/>
              </a:ext>
            </a:extLst>
          </p:cNvPr>
          <p:cNvSpPr>
            <a:spLocks noGrp="1"/>
          </p:cNvSpPr>
          <p:nvPr/>
        </p:nvSpPr>
        <p:spPr>
          <a:xfrm>
            <a:off x="613606" y="1918292"/>
            <a:ext cx="304800" cy="2928936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-main">
            <a:extLst>
              <a:ext uri="{FF2B5EF4-FFF2-40B4-BE49-F238E27FC236}">
                <a16:creationId xmlns:a16="http://schemas.microsoft.com/office/drawing/2014/main" id="{9006DE3F-F727-4034-9ACF-8D45CEF5048F}"/>
              </a:ext>
            </a:extLst>
          </p:cNvPr>
          <p:cNvSpPr>
            <a:spLocks noGrp="1"/>
          </p:cNvSpPr>
          <p:nvPr/>
        </p:nvSpPr>
        <p:spPr>
          <a:xfrm>
            <a:off x="918406" y="2242142"/>
            <a:ext cx="666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 i="0">
                <a:solidFill>
                  <a:srgbClr val="111111"/>
                </a:solidFill>
              </a:defRPr>
            </a:pPr>
            <a:r>
              <a:rPr sz="4350" b="1" i="0">
                <a:solidFill>
                  <a:srgbClr val="111111"/>
                </a:solidFill>
              </a:rPr>
              <a:t>Ghost</a:t>
            </a:r>
          </a:p>
        </p:txBody>
      </p:sp>
      <p:sp>
        <p:nvSpPr>
          <p:cNvPr id="4" name="title-sub">
            <a:extLst>
              <a:ext uri="{FF2B5EF4-FFF2-40B4-BE49-F238E27FC236}">
                <a16:creationId xmlns:a16="http://schemas.microsoft.com/office/drawing/2014/main" id="{C0DEA43E-62C3-4E9E-B94B-01C67BFBC1FB}"/>
              </a:ext>
            </a:extLst>
          </p:cNvPr>
          <p:cNvSpPr>
            <a:spLocks noGrp="1"/>
          </p:cNvSpPr>
          <p:nvPr/>
        </p:nvSpPr>
        <p:spPr>
          <a:xfrm>
            <a:off x="918406" y="3004142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 i="0">
                <a:solidFill>
                  <a:srgbClr val="111111"/>
                </a:solidFill>
              </a:defRPr>
            </a:pPr>
            <a:r>
              <a:rPr sz="2100" b="0" i="0">
                <a:solidFill>
                  <a:srgbClr val="111111"/>
                </a:solidFill>
              </a:rPr>
              <a:t>Narrative Puzzle Game for Chatbot/NLP Learning</a:t>
            </a:r>
          </a:p>
        </p:txBody>
      </p:sp>
      <p:sp>
        <p:nvSpPr>
          <p:cNvPr id="5" name="title-meeting">
            <a:extLst>
              <a:ext uri="{FF2B5EF4-FFF2-40B4-BE49-F238E27FC236}">
                <a16:creationId xmlns:a16="http://schemas.microsoft.com/office/drawing/2014/main" id="{814FD315-7382-4FA2-9982-2EBFAFDEE087}"/>
              </a:ext>
            </a:extLst>
          </p:cNvPr>
          <p:cNvSpPr>
            <a:spLocks noGrp="1"/>
          </p:cNvSpPr>
          <p:nvPr/>
        </p:nvSpPr>
        <p:spPr>
          <a:xfrm>
            <a:off x="918406" y="3689942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4A4A4A"/>
                </a:solidFill>
              </a:defRPr>
            </a:pPr>
            <a:r>
              <a:rPr sz="1500" b="0" i="0">
                <a:solidFill>
                  <a:srgbClr val="4A4A4A"/>
                </a:solidFill>
              </a:rPr>
              <a:t>4th Group Meeting · MSc Advanced Computing · King's College London</a:t>
            </a:r>
          </a:p>
        </p:txBody>
      </p:sp>
      <p:sp>
        <p:nvSpPr>
          <p:cNvPr id="6" name="title-name">
            <a:extLst>
              <a:ext uri="{FF2B5EF4-FFF2-40B4-BE49-F238E27FC236}">
                <a16:creationId xmlns:a16="http://schemas.microsoft.com/office/drawing/2014/main" id="{FC9ED0AA-CE47-49B5-980C-12EEB8F10DF6}"/>
              </a:ext>
            </a:extLst>
          </p:cNvPr>
          <p:cNvSpPr>
            <a:spLocks noGrp="1"/>
          </p:cNvSpPr>
          <p:nvPr/>
        </p:nvSpPr>
        <p:spPr>
          <a:xfrm>
            <a:off x="918406" y="4185242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4A4A4A"/>
                </a:solidFill>
              </a:defRPr>
            </a:pPr>
            <a:r>
              <a:rPr sz="1350" b="0" i="0">
                <a:solidFill>
                  <a:srgbClr val="4A4A4A"/>
                </a:solidFill>
              </a:rPr>
              <a:t>Chao-Yang Tang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E9A1E5-3446-81FB-AA60-4D793BE1E722}"/>
              </a:ext>
            </a:extLst>
          </p:cNvPr>
          <p:cNvSpPr/>
          <p:nvPr/>
        </p:nvSpPr>
        <p:spPr>
          <a:xfrm>
            <a:off x="8020050" y="2418353"/>
            <a:ext cx="2123080" cy="2174118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7AE17C-3274-BA56-45AB-E37A915D9E80}"/>
              </a:ext>
            </a:extLst>
          </p:cNvPr>
          <p:cNvSpPr/>
          <p:nvPr/>
        </p:nvSpPr>
        <p:spPr>
          <a:xfrm>
            <a:off x="9419799" y="3025252"/>
            <a:ext cx="293426" cy="36209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6BCD84-34DC-7ED4-6C83-EE424D5FF27F}"/>
              </a:ext>
            </a:extLst>
          </p:cNvPr>
          <p:cNvSpPr/>
          <p:nvPr/>
        </p:nvSpPr>
        <p:spPr>
          <a:xfrm>
            <a:off x="8494026" y="3025252"/>
            <a:ext cx="293426" cy="36209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26D703A-DC5F-201F-E4B4-543E4B5B788B}"/>
              </a:ext>
            </a:extLst>
          </p:cNvPr>
          <p:cNvSpPr/>
          <p:nvPr/>
        </p:nvSpPr>
        <p:spPr>
          <a:xfrm rot="2100000">
            <a:off x="7449118" y="3654890"/>
            <a:ext cx="504967" cy="982639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Course concept</a:t>
            </a:r>
            <a:br>
              <a:rPr lang="en-GB" dirty="0"/>
            </a:br>
            <a:r>
              <a:rPr lang="en-GB" dirty="0"/>
              <a:t>Intent, entity, dialog, confidence, fallback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2CDC186-2080-1998-62A1-4666F210F3EA}"/>
              </a:ext>
            </a:extLst>
          </p:cNvPr>
          <p:cNvSpPr/>
          <p:nvPr/>
        </p:nvSpPr>
        <p:spPr>
          <a:xfrm rot="19500000">
            <a:off x="10211798" y="3651398"/>
            <a:ext cx="504967" cy="982639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2DCD751-81E8-C69A-1D03-802DF88A0F0B}"/>
              </a:ext>
            </a:extLst>
          </p:cNvPr>
          <p:cNvSpPr/>
          <p:nvPr/>
        </p:nvSpPr>
        <p:spPr>
          <a:xfrm rot="10800000">
            <a:off x="8893735" y="3729036"/>
            <a:ext cx="378413" cy="362092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02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">
            <a:extLst>
              <a:ext uri="{FF2B5EF4-FFF2-40B4-BE49-F238E27FC236}">
                <a16:creationId xmlns:a16="http://schemas.microsoft.com/office/drawing/2014/main" id="{852535D6-440F-4078-AED1-0328E27B61A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5A52C98-E3A3-40B7-8D6E-C9D10CDB59F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 dirty="0">
                <a:solidFill>
                  <a:srgbClr val="111111"/>
                </a:solidFill>
              </a:rPr>
              <a:t>Project Goa</a:t>
            </a:r>
            <a:r>
              <a:rPr lang="en-GB" sz="2700" b="1" i="0" dirty="0">
                <a:solidFill>
                  <a:srgbClr val="111111"/>
                </a:solidFill>
              </a:rPr>
              <a:t>l</a:t>
            </a:r>
            <a:r>
              <a:rPr lang="zh-TW" altLang="en-US" sz="2700" b="1" i="0" dirty="0">
                <a:solidFill>
                  <a:srgbClr val="111111"/>
                </a:solidFill>
              </a:rPr>
              <a:t> </a:t>
            </a:r>
            <a:r>
              <a:rPr lang="en-GB" altLang="zh-TW" sz="2700" b="1" i="0" dirty="0">
                <a:solidFill>
                  <a:srgbClr val="111111"/>
                </a:solidFill>
              </a:rPr>
              <a:t>and Flow</a:t>
            </a:r>
            <a:endParaRPr sz="2700" b="1" i="0" dirty="0">
              <a:solidFill>
                <a:srgbClr val="111111"/>
              </a:solidFill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887BC4EC-1661-45E5-8D7D-A919B3012622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q-card">
            <a:extLst>
              <a:ext uri="{FF2B5EF4-FFF2-40B4-BE49-F238E27FC236}">
                <a16:creationId xmlns:a16="http://schemas.microsoft.com/office/drawing/2014/main" id="{3995EE44-C1E1-453B-9D58-5EEC5CC6914A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10744200" cy="13335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q-label">
            <a:extLst>
              <a:ext uri="{FF2B5EF4-FFF2-40B4-BE49-F238E27FC236}">
                <a16:creationId xmlns:a16="http://schemas.microsoft.com/office/drawing/2014/main" id="{A563A601-802E-4585-B60D-52FE537BD61B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Main question</a:t>
            </a:r>
          </a:p>
        </p:txBody>
      </p:sp>
      <p:sp>
        <p:nvSpPr>
          <p:cNvPr id="6" name="rq">
            <a:extLst>
              <a:ext uri="{FF2B5EF4-FFF2-40B4-BE49-F238E27FC236}">
                <a16:creationId xmlns:a16="http://schemas.microsoft.com/office/drawing/2014/main" id="{1B4A7B19-2093-4807-B590-2D84DA0C4FA1}"/>
              </a:ext>
            </a:extLst>
          </p:cNvPr>
          <p:cNvSpPr>
            <a:spLocks noGrp="1"/>
          </p:cNvSpPr>
          <p:nvPr/>
        </p:nvSpPr>
        <p:spPr>
          <a:xfrm>
            <a:off x="990600" y="1962150"/>
            <a:ext cx="988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 i="0">
                <a:solidFill>
                  <a:srgbClr val="111111"/>
                </a:solidFill>
              </a:defRPr>
            </a:pPr>
            <a:r>
              <a:rPr lang="en-GB" sz="1950" b="1" dirty="0"/>
              <a:t>How can selected IBM </a:t>
            </a:r>
            <a:r>
              <a:rPr lang="en-GB" sz="1950" b="1" dirty="0" err="1"/>
              <a:t>SkillsBuild</a:t>
            </a:r>
            <a:r>
              <a:rPr lang="en-GB" sz="1950" b="1" dirty="0"/>
              <a:t> chatbot and NLP concepts be turned into playable puzzle levels in Ghost?</a:t>
            </a:r>
            <a:endParaRPr sz="1950" b="1" i="0" dirty="0">
              <a:solidFill>
                <a:srgbClr val="111111"/>
              </a:solidFill>
            </a:endParaRPr>
          </a:p>
        </p:txBody>
      </p:sp>
      <p:sp>
        <p:nvSpPr>
          <p:cNvPr id="7" name="loop-0">
            <a:extLst>
              <a:ext uri="{FF2B5EF4-FFF2-40B4-BE49-F238E27FC236}">
                <a16:creationId xmlns:a16="http://schemas.microsoft.com/office/drawing/2014/main" id="{C029E03F-575E-46D6-80B0-CA40CBB024CB}"/>
              </a:ext>
            </a:extLst>
          </p:cNvPr>
          <p:cNvSpPr>
            <a:spLocks noGrp="1"/>
          </p:cNvSpPr>
          <p:nvPr/>
        </p:nvSpPr>
        <p:spPr>
          <a:xfrm>
            <a:off x="800100" y="4916038"/>
            <a:ext cx="2324100" cy="13335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loop-num-0">
            <a:extLst>
              <a:ext uri="{FF2B5EF4-FFF2-40B4-BE49-F238E27FC236}">
                <a16:creationId xmlns:a16="http://schemas.microsoft.com/office/drawing/2014/main" id="{CF35F942-B55A-483B-90C4-AAE64BB82C63}"/>
              </a:ext>
            </a:extLst>
          </p:cNvPr>
          <p:cNvSpPr>
            <a:spLocks noGrp="1"/>
          </p:cNvSpPr>
          <p:nvPr/>
        </p:nvSpPr>
        <p:spPr>
          <a:xfrm>
            <a:off x="971550" y="5087488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F3F3F3"/>
          </a:solidFill>
          <a:ln w="1143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loop-num-text-0">
            <a:extLst>
              <a:ext uri="{FF2B5EF4-FFF2-40B4-BE49-F238E27FC236}">
                <a16:creationId xmlns:a16="http://schemas.microsoft.com/office/drawing/2014/main" id="{15344F44-C8FF-47A7-AC63-C63B8A3E08A8}"/>
              </a:ext>
            </a:extLst>
          </p:cNvPr>
          <p:cNvSpPr>
            <a:spLocks noGrp="1"/>
          </p:cNvSpPr>
          <p:nvPr/>
        </p:nvSpPr>
        <p:spPr>
          <a:xfrm>
            <a:off x="971550" y="5154163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" name="loop-head-0">
            <a:extLst>
              <a:ext uri="{FF2B5EF4-FFF2-40B4-BE49-F238E27FC236}">
                <a16:creationId xmlns:a16="http://schemas.microsoft.com/office/drawing/2014/main" id="{0E38E31E-80B8-40DB-AF5D-D842885EFAE0}"/>
              </a:ext>
            </a:extLst>
          </p:cNvPr>
          <p:cNvSpPr>
            <a:spLocks noGrp="1"/>
          </p:cNvSpPr>
          <p:nvPr/>
        </p:nvSpPr>
        <p:spPr>
          <a:xfrm>
            <a:off x="1485900" y="5106538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Communication problem</a:t>
            </a:r>
          </a:p>
        </p:txBody>
      </p:sp>
      <p:sp>
        <p:nvSpPr>
          <p:cNvPr id="11" name="loop-body-0">
            <a:extLst>
              <a:ext uri="{FF2B5EF4-FFF2-40B4-BE49-F238E27FC236}">
                <a16:creationId xmlns:a16="http://schemas.microsoft.com/office/drawing/2014/main" id="{AE8CB1F7-B643-4E0A-A72B-E7C7B828B592}"/>
              </a:ext>
            </a:extLst>
          </p:cNvPr>
          <p:cNvSpPr>
            <a:spLocks noGrp="1"/>
          </p:cNvSpPr>
          <p:nvPr/>
        </p:nvSpPr>
        <p:spPr>
          <a:xfrm>
            <a:off x="990600" y="5658988"/>
            <a:ext cx="1943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4A4A4A"/>
                </a:solidFill>
              </a:defRPr>
            </a:pPr>
            <a:r>
              <a:rPr sz="1200" b="0" i="0">
                <a:solidFill>
                  <a:srgbClr val="4A4A4A"/>
                </a:solidFill>
              </a:rPr>
              <a:t>Ghost misunderstands or replies out of order.</a:t>
            </a:r>
          </a:p>
        </p:txBody>
      </p:sp>
      <p:sp>
        <p:nvSpPr>
          <p:cNvPr id="12" name="loop-arrow-0">
            <a:extLst>
              <a:ext uri="{FF2B5EF4-FFF2-40B4-BE49-F238E27FC236}">
                <a16:creationId xmlns:a16="http://schemas.microsoft.com/office/drawing/2014/main" id="{334D60FF-D198-49B8-9985-FA24540ADC68}"/>
              </a:ext>
            </a:extLst>
          </p:cNvPr>
          <p:cNvSpPr>
            <a:spLocks noGrp="1"/>
          </p:cNvSpPr>
          <p:nvPr/>
        </p:nvSpPr>
        <p:spPr>
          <a:xfrm>
            <a:off x="3152775" y="5506588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111111"/>
                </a:solidFill>
              </a:defRPr>
            </a:pPr>
            <a:r>
              <a:rPr sz="2100" b="1" i="0" dirty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3" name="loop-1">
            <a:extLst>
              <a:ext uri="{FF2B5EF4-FFF2-40B4-BE49-F238E27FC236}">
                <a16:creationId xmlns:a16="http://schemas.microsoft.com/office/drawing/2014/main" id="{3A49C25C-7146-4FED-BEAD-2F5D8640BA50}"/>
              </a:ext>
            </a:extLst>
          </p:cNvPr>
          <p:cNvSpPr>
            <a:spLocks noGrp="1"/>
          </p:cNvSpPr>
          <p:nvPr/>
        </p:nvSpPr>
        <p:spPr>
          <a:xfrm>
            <a:off x="3448050" y="4916038"/>
            <a:ext cx="2324100" cy="135255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loop-num-1">
            <a:extLst>
              <a:ext uri="{FF2B5EF4-FFF2-40B4-BE49-F238E27FC236}">
                <a16:creationId xmlns:a16="http://schemas.microsoft.com/office/drawing/2014/main" id="{6CA916C0-3268-46F8-BB95-FBBD2F76F1AC}"/>
              </a:ext>
            </a:extLst>
          </p:cNvPr>
          <p:cNvSpPr>
            <a:spLocks noGrp="1"/>
          </p:cNvSpPr>
          <p:nvPr/>
        </p:nvSpPr>
        <p:spPr>
          <a:xfrm>
            <a:off x="3619500" y="5087488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F3F3F3"/>
          </a:solidFill>
          <a:ln w="1143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loop-num-text-1">
            <a:extLst>
              <a:ext uri="{FF2B5EF4-FFF2-40B4-BE49-F238E27FC236}">
                <a16:creationId xmlns:a16="http://schemas.microsoft.com/office/drawing/2014/main" id="{D45A4F9A-B86E-46BF-9D83-CDAA30BD83BC}"/>
              </a:ext>
            </a:extLst>
          </p:cNvPr>
          <p:cNvSpPr>
            <a:spLocks noGrp="1"/>
          </p:cNvSpPr>
          <p:nvPr/>
        </p:nvSpPr>
        <p:spPr>
          <a:xfrm>
            <a:off x="3619500" y="5154163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6" name="loop-head-1">
            <a:extLst>
              <a:ext uri="{FF2B5EF4-FFF2-40B4-BE49-F238E27FC236}">
                <a16:creationId xmlns:a16="http://schemas.microsoft.com/office/drawing/2014/main" id="{4DE4FC21-C701-4678-A919-35DBA394504E}"/>
              </a:ext>
            </a:extLst>
          </p:cNvPr>
          <p:cNvSpPr>
            <a:spLocks noGrp="1"/>
          </p:cNvSpPr>
          <p:nvPr/>
        </p:nvSpPr>
        <p:spPr>
          <a:xfrm>
            <a:off x="4133850" y="5106538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Puzzle action</a:t>
            </a:r>
          </a:p>
        </p:txBody>
      </p:sp>
      <p:sp>
        <p:nvSpPr>
          <p:cNvPr id="17" name="loop-body-1">
            <a:extLst>
              <a:ext uri="{FF2B5EF4-FFF2-40B4-BE49-F238E27FC236}">
                <a16:creationId xmlns:a16="http://schemas.microsoft.com/office/drawing/2014/main" id="{EBE5A5DB-E5D9-475B-B01F-5829531C9DCD}"/>
              </a:ext>
            </a:extLst>
          </p:cNvPr>
          <p:cNvSpPr>
            <a:spLocks noGrp="1"/>
          </p:cNvSpPr>
          <p:nvPr/>
        </p:nvSpPr>
        <p:spPr>
          <a:xfrm>
            <a:off x="3638550" y="5658988"/>
            <a:ext cx="1943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4A4A4A"/>
                </a:solidFill>
              </a:defRPr>
            </a:pPr>
            <a:r>
              <a:rPr sz="1200" b="0" i="0">
                <a:solidFill>
                  <a:srgbClr val="4A4A4A"/>
                </a:solidFill>
              </a:rPr>
              <a:t>Player classifies, tags, or connects.</a:t>
            </a:r>
          </a:p>
        </p:txBody>
      </p:sp>
      <p:sp>
        <p:nvSpPr>
          <p:cNvPr id="18" name="loop-arrow-1">
            <a:extLst>
              <a:ext uri="{FF2B5EF4-FFF2-40B4-BE49-F238E27FC236}">
                <a16:creationId xmlns:a16="http://schemas.microsoft.com/office/drawing/2014/main" id="{5CE31AC7-94E2-44EE-AC61-BDDDD30B9DC5}"/>
              </a:ext>
            </a:extLst>
          </p:cNvPr>
          <p:cNvSpPr>
            <a:spLocks noGrp="1"/>
          </p:cNvSpPr>
          <p:nvPr/>
        </p:nvSpPr>
        <p:spPr>
          <a:xfrm>
            <a:off x="5812951" y="5512843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9" name="loop-2">
            <a:extLst>
              <a:ext uri="{FF2B5EF4-FFF2-40B4-BE49-F238E27FC236}">
                <a16:creationId xmlns:a16="http://schemas.microsoft.com/office/drawing/2014/main" id="{4183F14C-2DFD-42AF-B4AD-7CA699FCFEE3}"/>
              </a:ext>
            </a:extLst>
          </p:cNvPr>
          <p:cNvSpPr>
            <a:spLocks noGrp="1"/>
          </p:cNvSpPr>
          <p:nvPr/>
        </p:nvSpPr>
        <p:spPr>
          <a:xfrm>
            <a:off x="6096000" y="4916038"/>
            <a:ext cx="2324100" cy="1352550"/>
          </a:xfrm>
          <a:prstGeom prst="roundRect">
            <a:avLst>
              <a:gd name="adj" fmla="val 6818"/>
            </a:avLst>
          </a:prstGeom>
          <a:solidFill>
            <a:srgbClr val="F6F6F6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loop-num-2">
            <a:extLst>
              <a:ext uri="{FF2B5EF4-FFF2-40B4-BE49-F238E27FC236}">
                <a16:creationId xmlns:a16="http://schemas.microsoft.com/office/drawing/2014/main" id="{A25CF116-939F-4D6B-BD0B-1EE4CD959FF7}"/>
              </a:ext>
            </a:extLst>
          </p:cNvPr>
          <p:cNvSpPr>
            <a:spLocks noGrp="1"/>
          </p:cNvSpPr>
          <p:nvPr/>
        </p:nvSpPr>
        <p:spPr>
          <a:xfrm>
            <a:off x="6267450" y="5087488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loop-num-text-2">
            <a:extLst>
              <a:ext uri="{FF2B5EF4-FFF2-40B4-BE49-F238E27FC236}">
                <a16:creationId xmlns:a16="http://schemas.microsoft.com/office/drawing/2014/main" id="{188FB8C8-4348-4DDA-B567-111EAE4AD5FA}"/>
              </a:ext>
            </a:extLst>
          </p:cNvPr>
          <p:cNvSpPr>
            <a:spLocks noGrp="1"/>
          </p:cNvSpPr>
          <p:nvPr/>
        </p:nvSpPr>
        <p:spPr>
          <a:xfrm>
            <a:off x="6267450" y="5154163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2" name="loop-head-2">
            <a:extLst>
              <a:ext uri="{FF2B5EF4-FFF2-40B4-BE49-F238E27FC236}">
                <a16:creationId xmlns:a16="http://schemas.microsoft.com/office/drawing/2014/main" id="{0C420F15-3B80-4E36-9DF6-A6A0635B2995}"/>
              </a:ext>
            </a:extLst>
          </p:cNvPr>
          <p:cNvSpPr>
            <a:spLocks noGrp="1"/>
          </p:cNvSpPr>
          <p:nvPr/>
        </p:nvSpPr>
        <p:spPr>
          <a:xfrm>
            <a:off x="6781800" y="5106538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Deterministic check</a:t>
            </a:r>
          </a:p>
        </p:txBody>
      </p:sp>
      <p:sp>
        <p:nvSpPr>
          <p:cNvPr id="23" name="loop-body-2">
            <a:extLst>
              <a:ext uri="{FF2B5EF4-FFF2-40B4-BE49-F238E27FC236}">
                <a16:creationId xmlns:a16="http://schemas.microsoft.com/office/drawing/2014/main" id="{68D16BBA-DF79-4171-84D4-742C27BF44FE}"/>
              </a:ext>
            </a:extLst>
          </p:cNvPr>
          <p:cNvSpPr>
            <a:spLocks noGrp="1"/>
          </p:cNvSpPr>
          <p:nvPr/>
        </p:nvSpPr>
        <p:spPr>
          <a:xfrm>
            <a:off x="6286500" y="5658988"/>
            <a:ext cx="1943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4A4A4A"/>
                </a:solidFill>
              </a:defRPr>
            </a:pPr>
            <a:r>
              <a:rPr sz="1200" b="0" i="0">
                <a:solidFill>
                  <a:srgbClr val="4A4A4A"/>
                </a:solidFill>
              </a:rPr>
              <a:t>Validators decide correctness, not an LLM.</a:t>
            </a:r>
          </a:p>
        </p:txBody>
      </p:sp>
      <p:sp>
        <p:nvSpPr>
          <p:cNvPr id="24" name="loop-arrow-2">
            <a:extLst>
              <a:ext uri="{FF2B5EF4-FFF2-40B4-BE49-F238E27FC236}">
                <a16:creationId xmlns:a16="http://schemas.microsoft.com/office/drawing/2014/main" id="{3B9C2634-8202-44CE-BA84-85FA79BBFE95}"/>
              </a:ext>
            </a:extLst>
          </p:cNvPr>
          <p:cNvSpPr>
            <a:spLocks noGrp="1"/>
          </p:cNvSpPr>
          <p:nvPr/>
        </p:nvSpPr>
        <p:spPr>
          <a:xfrm>
            <a:off x="8448675" y="5506588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 i="0">
                <a:solidFill>
                  <a:srgbClr val="111111"/>
                </a:solidFill>
              </a:defRPr>
            </a:pPr>
            <a:r>
              <a:rPr sz="2100" b="1" i="0" dirty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5" name="loop-3">
            <a:extLst>
              <a:ext uri="{FF2B5EF4-FFF2-40B4-BE49-F238E27FC236}">
                <a16:creationId xmlns:a16="http://schemas.microsoft.com/office/drawing/2014/main" id="{BB3D4806-7F9F-48AC-8C3F-D49707B7081A}"/>
              </a:ext>
            </a:extLst>
          </p:cNvPr>
          <p:cNvSpPr>
            <a:spLocks noGrp="1"/>
          </p:cNvSpPr>
          <p:nvPr/>
        </p:nvSpPr>
        <p:spPr>
          <a:xfrm>
            <a:off x="8743950" y="4916038"/>
            <a:ext cx="2324100" cy="135255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loop-num-3">
            <a:extLst>
              <a:ext uri="{FF2B5EF4-FFF2-40B4-BE49-F238E27FC236}">
                <a16:creationId xmlns:a16="http://schemas.microsoft.com/office/drawing/2014/main" id="{E726BFDE-04BB-4B63-869D-FB2859A1EC97}"/>
              </a:ext>
            </a:extLst>
          </p:cNvPr>
          <p:cNvSpPr>
            <a:spLocks noGrp="1"/>
          </p:cNvSpPr>
          <p:nvPr/>
        </p:nvSpPr>
        <p:spPr>
          <a:xfrm>
            <a:off x="8915400" y="5087488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F3F3F3"/>
          </a:solidFill>
          <a:ln w="1143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loop-num-text-3">
            <a:extLst>
              <a:ext uri="{FF2B5EF4-FFF2-40B4-BE49-F238E27FC236}">
                <a16:creationId xmlns:a16="http://schemas.microsoft.com/office/drawing/2014/main" id="{724DF37A-3586-471C-91C2-F399C4BF0814}"/>
              </a:ext>
            </a:extLst>
          </p:cNvPr>
          <p:cNvSpPr>
            <a:spLocks noGrp="1"/>
          </p:cNvSpPr>
          <p:nvPr/>
        </p:nvSpPr>
        <p:spPr>
          <a:xfrm>
            <a:off x="8915400" y="5154163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28" name="loop-head-3">
            <a:extLst>
              <a:ext uri="{FF2B5EF4-FFF2-40B4-BE49-F238E27FC236}">
                <a16:creationId xmlns:a16="http://schemas.microsoft.com/office/drawing/2014/main" id="{ED8BB455-8F7D-4D1F-9AE9-B2B33CB684F7}"/>
              </a:ext>
            </a:extLst>
          </p:cNvPr>
          <p:cNvSpPr>
            <a:spLocks noGrp="1"/>
          </p:cNvSpPr>
          <p:nvPr/>
        </p:nvSpPr>
        <p:spPr>
          <a:xfrm>
            <a:off x="9429750" y="5106538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Visible response</a:t>
            </a:r>
          </a:p>
        </p:txBody>
      </p:sp>
      <p:sp>
        <p:nvSpPr>
          <p:cNvPr id="29" name="loop-body-3">
            <a:extLst>
              <a:ext uri="{FF2B5EF4-FFF2-40B4-BE49-F238E27FC236}">
                <a16:creationId xmlns:a16="http://schemas.microsoft.com/office/drawing/2014/main" id="{2FD0C00C-8ADC-4731-A199-8C2194D77D14}"/>
              </a:ext>
            </a:extLst>
          </p:cNvPr>
          <p:cNvSpPr>
            <a:spLocks noGrp="1"/>
          </p:cNvSpPr>
          <p:nvPr/>
        </p:nvSpPr>
        <p:spPr>
          <a:xfrm>
            <a:off x="8934450" y="5658988"/>
            <a:ext cx="1943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4A4A4A"/>
                </a:solidFill>
              </a:defRPr>
            </a:pPr>
            <a:r>
              <a:rPr sz="1200" b="0" i="0">
                <a:solidFill>
                  <a:srgbClr val="4A4A4A"/>
                </a:solidFill>
              </a:rPr>
              <a:t>Ghost’s reaction changes based on the result.</a:t>
            </a:r>
          </a:p>
        </p:txBody>
      </p:sp>
      <p:sp>
        <p:nvSpPr>
          <p:cNvPr id="45" name="lit-game-card">
            <a:extLst>
              <a:ext uri="{FF2B5EF4-FFF2-40B4-BE49-F238E27FC236}">
                <a16:creationId xmlns:a16="http://schemas.microsoft.com/office/drawing/2014/main" id="{664EC20E-1855-1D87-3485-41860EF42D22}"/>
              </a:ext>
            </a:extLst>
          </p:cNvPr>
          <p:cNvSpPr>
            <a:spLocks noGrp="1"/>
          </p:cNvSpPr>
          <p:nvPr/>
        </p:nvSpPr>
        <p:spPr>
          <a:xfrm>
            <a:off x="723900" y="3179645"/>
            <a:ext cx="3238500" cy="135709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lit-game-accent">
            <a:extLst>
              <a:ext uri="{FF2B5EF4-FFF2-40B4-BE49-F238E27FC236}">
                <a16:creationId xmlns:a16="http://schemas.microsoft.com/office/drawing/2014/main" id="{DDAE7388-BD2C-18C9-3B68-CBD144F1B1C9}"/>
              </a:ext>
            </a:extLst>
          </p:cNvPr>
          <p:cNvSpPr>
            <a:spLocks noGrp="1"/>
          </p:cNvSpPr>
          <p:nvPr/>
        </p:nvSpPr>
        <p:spPr>
          <a:xfrm>
            <a:off x="723900" y="3179645"/>
            <a:ext cx="76200" cy="1357098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lit-game-heading">
            <a:extLst>
              <a:ext uri="{FF2B5EF4-FFF2-40B4-BE49-F238E27FC236}">
                <a16:creationId xmlns:a16="http://schemas.microsoft.com/office/drawing/2014/main" id="{E3D2800B-61F8-4CD7-6EC0-9D071E58056D}"/>
              </a:ext>
            </a:extLst>
          </p:cNvPr>
          <p:cNvSpPr>
            <a:spLocks noGrp="1"/>
          </p:cNvSpPr>
          <p:nvPr/>
        </p:nvSpPr>
        <p:spPr>
          <a:xfrm>
            <a:off x="933450" y="3351095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Game-based learning</a:t>
            </a:r>
          </a:p>
        </p:txBody>
      </p:sp>
      <p:sp>
        <p:nvSpPr>
          <p:cNvPr id="48" name="lit-game-body">
            <a:extLst>
              <a:ext uri="{FF2B5EF4-FFF2-40B4-BE49-F238E27FC236}">
                <a16:creationId xmlns:a16="http://schemas.microsoft.com/office/drawing/2014/main" id="{DE23C9C0-19A0-70D1-C9E6-88A340DE5182}"/>
              </a:ext>
            </a:extLst>
          </p:cNvPr>
          <p:cNvSpPr>
            <a:spLocks noGrp="1"/>
          </p:cNvSpPr>
          <p:nvPr/>
        </p:nvSpPr>
        <p:spPr>
          <a:xfrm>
            <a:off x="933450" y="3713045"/>
            <a:ext cx="2895600" cy="669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Actions should directly teach content: the player learns the concept by doing the concept.</a:t>
            </a:r>
          </a:p>
        </p:txBody>
      </p:sp>
      <p:sp>
        <p:nvSpPr>
          <p:cNvPr id="49" name="lit-agent-card">
            <a:extLst>
              <a:ext uri="{FF2B5EF4-FFF2-40B4-BE49-F238E27FC236}">
                <a16:creationId xmlns:a16="http://schemas.microsoft.com/office/drawing/2014/main" id="{3F497518-BEC8-9762-EEEE-232D29868499}"/>
              </a:ext>
            </a:extLst>
          </p:cNvPr>
          <p:cNvSpPr>
            <a:spLocks noGrp="1"/>
          </p:cNvSpPr>
          <p:nvPr/>
        </p:nvSpPr>
        <p:spPr>
          <a:xfrm>
            <a:off x="4457700" y="3179645"/>
            <a:ext cx="3238500" cy="135709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lit-agent-accent">
            <a:extLst>
              <a:ext uri="{FF2B5EF4-FFF2-40B4-BE49-F238E27FC236}">
                <a16:creationId xmlns:a16="http://schemas.microsoft.com/office/drawing/2014/main" id="{6C4CDF77-B741-DC04-5B25-1A7EA3CD641A}"/>
              </a:ext>
            </a:extLst>
          </p:cNvPr>
          <p:cNvSpPr>
            <a:spLocks noGrp="1"/>
          </p:cNvSpPr>
          <p:nvPr/>
        </p:nvSpPr>
        <p:spPr>
          <a:xfrm>
            <a:off x="4457700" y="3179645"/>
            <a:ext cx="76200" cy="1357098"/>
          </a:xfrm>
          <a:prstGeom prst="rect">
            <a:avLst/>
          </a:prstGeom>
          <a:solidFill>
            <a:srgbClr val="D9D9D9"/>
          </a:solidFill>
          <a:ln w="1143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lit-agent-heading">
            <a:extLst>
              <a:ext uri="{FF2B5EF4-FFF2-40B4-BE49-F238E27FC236}">
                <a16:creationId xmlns:a16="http://schemas.microsoft.com/office/drawing/2014/main" id="{0EE5688A-CEFF-54BB-33DF-57D94507B634}"/>
              </a:ext>
            </a:extLst>
          </p:cNvPr>
          <p:cNvSpPr>
            <a:spLocks noGrp="1"/>
          </p:cNvSpPr>
          <p:nvPr/>
        </p:nvSpPr>
        <p:spPr>
          <a:xfrm>
            <a:off x="4667250" y="3351095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Narrative &amp; agents</a:t>
            </a:r>
          </a:p>
        </p:txBody>
      </p:sp>
      <p:sp>
        <p:nvSpPr>
          <p:cNvPr id="52" name="lit-agent-body">
            <a:extLst>
              <a:ext uri="{FF2B5EF4-FFF2-40B4-BE49-F238E27FC236}">
                <a16:creationId xmlns:a16="http://schemas.microsoft.com/office/drawing/2014/main" id="{D45EC5A7-DB07-51BF-0767-3A9A34991C13}"/>
              </a:ext>
            </a:extLst>
          </p:cNvPr>
          <p:cNvSpPr>
            <a:spLocks noGrp="1"/>
          </p:cNvSpPr>
          <p:nvPr/>
        </p:nvSpPr>
        <p:spPr>
          <a:xfrm>
            <a:off x="4667250" y="3713045"/>
            <a:ext cx="2895600" cy="669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Ghost and Lily turn abstract NLP topics into a motivated repair task with social scaffolding.</a:t>
            </a:r>
          </a:p>
        </p:txBody>
      </p:sp>
      <p:sp>
        <p:nvSpPr>
          <p:cNvPr id="53" name="lit-llm-card">
            <a:extLst>
              <a:ext uri="{FF2B5EF4-FFF2-40B4-BE49-F238E27FC236}">
                <a16:creationId xmlns:a16="http://schemas.microsoft.com/office/drawing/2014/main" id="{8E3CCE23-6A57-069E-C1A7-F8A3A99765C7}"/>
              </a:ext>
            </a:extLst>
          </p:cNvPr>
          <p:cNvSpPr>
            <a:spLocks noGrp="1"/>
          </p:cNvSpPr>
          <p:nvPr/>
        </p:nvSpPr>
        <p:spPr>
          <a:xfrm>
            <a:off x="8191500" y="3179645"/>
            <a:ext cx="3238500" cy="135709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lit-llm-accent">
            <a:extLst>
              <a:ext uri="{FF2B5EF4-FFF2-40B4-BE49-F238E27FC236}">
                <a16:creationId xmlns:a16="http://schemas.microsoft.com/office/drawing/2014/main" id="{30FF53D2-4FF1-8613-0B79-EAFAC977FF10}"/>
              </a:ext>
            </a:extLst>
          </p:cNvPr>
          <p:cNvSpPr>
            <a:spLocks noGrp="1"/>
          </p:cNvSpPr>
          <p:nvPr/>
        </p:nvSpPr>
        <p:spPr>
          <a:xfrm>
            <a:off x="8191500" y="3179645"/>
            <a:ext cx="76200" cy="1357098"/>
          </a:xfrm>
          <a:prstGeom prst="rect">
            <a:avLst/>
          </a:prstGeom>
          <a:solidFill>
            <a:srgbClr val="F3F3F3"/>
          </a:solidFill>
          <a:ln w="1143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lit-llm-heading">
            <a:extLst>
              <a:ext uri="{FF2B5EF4-FFF2-40B4-BE49-F238E27FC236}">
                <a16:creationId xmlns:a16="http://schemas.microsoft.com/office/drawing/2014/main" id="{9D455A58-8A23-87E0-AFDF-4C24CEC15A04}"/>
              </a:ext>
            </a:extLst>
          </p:cNvPr>
          <p:cNvSpPr>
            <a:spLocks noGrp="1"/>
          </p:cNvSpPr>
          <p:nvPr/>
        </p:nvSpPr>
        <p:spPr>
          <a:xfrm>
            <a:off x="8401050" y="3351095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11111"/>
                </a:solidFill>
              </a:defRPr>
            </a:pPr>
            <a:r>
              <a:rPr sz="1425" b="1" i="0">
                <a:solidFill>
                  <a:srgbClr val="111111"/>
                </a:solidFill>
              </a:rPr>
              <a:t>LLM support boundary</a:t>
            </a:r>
          </a:p>
        </p:txBody>
      </p:sp>
      <p:sp>
        <p:nvSpPr>
          <p:cNvPr id="56" name="lit-llm-body">
            <a:extLst>
              <a:ext uri="{FF2B5EF4-FFF2-40B4-BE49-F238E27FC236}">
                <a16:creationId xmlns:a16="http://schemas.microsoft.com/office/drawing/2014/main" id="{93A076D7-7E77-3F83-0F2C-C4E073B97B80}"/>
              </a:ext>
            </a:extLst>
          </p:cNvPr>
          <p:cNvSpPr>
            <a:spLocks noGrp="1"/>
          </p:cNvSpPr>
          <p:nvPr/>
        </p:nvSpPr>
        <p:spPr>
          <a:xfrm>
            <a:off x="8401050" y="3713045"/>
            <a:ext cx="2895600" cy="669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Future LLM use is for hints, explanations, and response variation</a:t>
            </a:r>
            <a:endParaRPr lang="en-GB" sz="1163" dirty="0">
              <a:solidFill>
                <a:srgbClr val="4A4A4A"/>
              </a:solidFill>
            </a:endParaRPr>
          </a:p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scoring remains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88826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">
            <a:extLst>
              <a:ext uri="{FF2B5EF4-FFF2-40B4-BE49-F238E27FC236}">
                <a16:creationId xmlns:a16="http://schemas.microsoft.com/office/drawing/2014/main" id="{7E89F073-A45E-4BB7-BD8D-CB61217C239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D02783B-8B47-4894-A1AE-7024D23EE216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 dirty="0">
                <a:solidFill>
                  <a:srgbClr val="111111"/>
                </a:solidFill>
              </a:rPr>
              <a:t>DEMO — Game Shell + Narrative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472FAEB0-7254-45D5-8A15-7AD14E96506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ell-notes-title">
            <a:extLst>
              <a:ext uri="{FF2B5EF4-FFF2-40B4-BE49-F238E27FC236}">
                <a16:creationId xmlns:a16="http://schemas.microsoft.com/office/drawing/2014/main" id="{F9BBF6D6-8C74-467C-9BD5-682204C0517E}"/>
              </a:ext>
            </a:extLst>
          </p:cNvPr>
          <p:cNvSpPr>
            <a:spLocks noGrp="1"/>
          </p:cNvSpPr>
          <p:nvPr/>
        </p:nvSpPr>
        <p:spPr>
          <a:xfrm>
            <a:off x="9208828" y="227519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What this demonstrates</a:t>
            </a:r>
          </a:p>
        </p:txBody>
      </p:sp>
      <p:sp>
        <p:nvSpPr>
          <p:cNvPr id="9" name="shell-bullets-0">
            <a:extLst>
              <a:ext uri="{FF2B5EF4-FFF2-40B4-BE49-F238E27FC236}">
                <a16:creationId xmlns:a16="http://schemas.microsoft.com/office/drawing/2014/main" id="{8B5D255D-C80D-4C7A-B554-7B60875EA3C3}"/>
              </a:ext>
            </a:extLst>
          </p:cNvPr>
          <p:cNvSpPr>
            <a:spLocks noGrp="1"/>
          </p:cNvSpPr>
          <p:nvPr/>
        </p:nvSpPr>
        <p:spPr>
          <a:xfrm>
            <a:off x="9246928" y="2789545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Player name entry feeds narrative state.</a:t>
            </a:r>
          </a:p>
        </p:txBody>
      </p:sp>
      <p:sp>
        <p:nvSpPr>
          <p:cNvPr id="10" name="shell-bullets-1">
            <a:extLst>
              <a:ext uri="{FF2B5EF4-FFF2-40B4-BE49-F238E27FC236}">
                <a16:creationId xmlns:a16="http://schemas.microsoft.com/office/drawing/2014/main" id="{417099F4-81FC-40A4-89D7-4B76FF219DDF}"/>
              </a:ext>
            </a:extLst>
          </p:cNvPr>
          <p:cNvSpPr>
            <a:spLocks noGrp="1"/>
          </p:cNvSpPr>
          <p:nvPr/>
        </p:nvSpPr>
        <p:spPr>
          <a:xfrm>
            <a:off x="9246928" y="3208645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 dirty="0">
                <a:solidFill>
                  <a:srgbClr val="111111"/>
                </a:solidFill>
              </a:rPr>
              <a:t>• Lily dialogue frame introduces each Act.</a:t>
            </a:r>
          </a:p>
        </p:txBody>
      </p:sp>
      <p:sp>
        <p:nvSpPr>
          <p:cNvPr id="12" name="shell-bullets-3">
            <a:extLst>
              <a:ext uri="{FF2B5EF4-FFF2-40B4-BE49-F238E27FC236}">
                <a16:creationId xmlns:a16="http://schemas.microsoft.com/office/drawing/2014/main" id="{9C814E20-B796-47E1-8C35-E19BE48F5F9A}"/>
              </a:ext>
            </a:extLst>
          </p:cNvPr>
          <p:cNvSpPr>
            <a:spLocks noGrp="1"/>
          </p:cNvSpPr>
          <p:nvPr/>
        </p:nvSpPr>
        <p:spPr>
          <a:xfrm>
            <a:off x="9246928" y="3698824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111111"/>
                </a:solidFill>
              </a:defRPr>
            </a:pPr>
            <a:r>
              <a:rPr sz="1275" b="0" i="0" dirty="0">
                <a:solidFill>
                  <a:srgbClr val="111111"/>
                </a:solidFill>
              </a:rPr>
              <a:t>• Return-to-hub overlay keeps acts connected.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55DE17-8E08-42B7-3AB5-C5E0405D0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06" y="1400175"/>
            <a:ext cx="8815687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1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E252493A-951B-46C0-8EA7-0EA3ABB9EDA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1377A90-8CE6-4359-9F93-25B25FBA5F2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 dirty="0">
                <a:solidFill>
                  <a:srgbClr val="111111"/>
                </a:solidFill>
              </a:rPr>
              <a:t>DEMO — Acts 1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346D9975-40F2-4292-ADD4-C57F4FF245E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act1-caption-title">
            <a:extLst>
              <a:ext uri="{FF2B5EF4-FFF2-40B4-BE49-F238E27FC236}">
                <a16:creationId xmlns:a16="http://schemas.microsoft.com/office/drawing/2014/main" id="{091EFCF1-9BB8-4209-BDC6-F7C3E7D40B42}"/>
              </a:ext>
            </a:extLst>
          </p:cNvPr>
          <p:cNvSpPr>
            <a:spLocks noGrp="1"/>
          </p:cNvSpPr>
          <p:nvPr/>
        </p:nvSpPr>
        <p:spPr>
          <a:xfrm>
            <a:off x="159508" y="3001370"/>
            <a:ext cx="253186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Act 1: Intent classification</a:t>
            </a:r>
          </a:p>
        </p:txBody>
      </p:sp>
      <p:sp>
        <p:nvSpPr>
          <p:cNvPr id="12" name="act1-caption-copy">
            <a:extLst>
              <a:ext uri="{FF2B5EF4-FFF2-40B4-BE49-F238E27FC236}">
                <a16:creationId xmlns:a16="http://schemas.microsoft.com/office/drawing/2014/main" id="{53A054E5-1B9A-4AC2-912C-259F640AB234}"/>
              </a:ext>
            </a:extLst>
          </p:cNvPr>
          <p:cNvSpPr>
            <a:spLocks noGrp="1"/>
          </p:cNvSpPr>
          <p:nvPr/>
        </p:nvSpPr>
        <p:spPr>
          <a:xfrm>
            <a:off x="159508" y="3363320"/>
            <a:ext cx="24052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Players group messages by purpose, then receive deterministic feedback from the validator.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587EDEF-E0B1-6F50-F717-A8514F08E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375" y="1238249"/>
            <a:ext cx="9351897" cy="524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7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CF2F-FB10-81F7-4CDF-390B8BC5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5B4110C6-F49D-1CAA-E2A6-EC69F4E5F1B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F4CAEE6-9853-D7D0-AC78-99DF4DC5918C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 dirty="0">
                <a:solidFill>
                  <a:srgbClr val="111111"/>
                </a:solidFill>
              </a:rPr>
              <a:t>DEMO — Acts </a:t>
            </a:r>
            <a:r>
              <a:rPr lang="en-GB" sz="2700" b="1" i="0" dirty="0">
                <a:solidFill>
                  <a:srgbClr val="111111"/>
                </a:solidFill>
              </a:rPr>
              <a:t>2</a:t>
            </a:r>
            <a:endParaRPr sz="2700" b="1" i="0" dirty="0">
              <a:solidFill>
                <a:srgbClr val="111111"/>
              </a:solidFill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6784A6A3-3C17-B784-2DF6-3E72FE63B171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act2-caption-title">
            <a:extLst>
              <a:ext uri="{FF2B5EF4-FFF2-40B4-BE49-F238E27FC236}">
                <a16:creationId xmlns:a16="http://schemas.microsoft.com/office/drawing/2014/main" id="{0FF81A30-0362-6E26-C25E-86EACCDE369A}"/>
              </a:ext>
            </a:extLst>
          </p:cNvPr>
          <p:cNvSpPr>
            <a:spLocks noGrp="1"/>
          </p:cNvSpPr>
          <p:nvPr/>
        </p:nvSpPr>
        <p:spPr>
          <a:xfrm>
            <a:off x="320723" y="2933132"/>
            <a:ext cx="247814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Act 2: Entity extraction</a:t>
            </a:r>
          </a:p>
        </p:txBody>
      </p:sp>
      <p:sp>
        <p:nvSpPr>
          <p:cNvPr id="15" name="act2-caption-copy">
            <a:extLst>
              <a:ext uri="{FF2B5EF4-FFF2-40B4-BE49-F238E27FC236}">
                <a16:creationId xmlns:a16="http://schemas.microsoft.com/office/drawing/2014/main" id="{CFA91298-76CC-96A7-EE92-BBBADD4AA074}"/>
              </a:ext>
            </a:extLst>
          </p:cNvPr>
          <p:cNvSpPr>
            <a:spLocks noGrp="1"/>
          </p:cNvSpPr>
          <p:nvPr/>
        </p:nvSpPr>
        <p:spPr>
          <a:xfrm>
            <a:off x="320723" y="3295082"/>
            <a:ext cx="235423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 i="0">
                <a:solidFill>
                  <a:srgbClr val="4A4A4A"/>
                </a:solidFill>
              </a:defRPr>
            </a:pPr>
            <a:r>
              <a:rPr sz="1163" b="0" i="0" dirty="0">
                <a:solidFill>
                  <a:srgbClr val="4A4A4A"/>
                </a:solidFill>
              </a:rPr>
              <a:t>Players tag spans and entity types, including system/custom distinction and synonym cases.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FB774-CA5A-4460-4DDB-64804DACB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962" y="1085263"/>
            <a:ext cx="9435656" cy="530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85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16448546-E7C9-4F7D-8487-FC92683F448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524F957-D8EF-42C6-BB25-AB60E7AD5FDD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 dirty="0">
                <a:solidFill>
                  <a:srgbClr val="111111"/>
                </a:solidFill>
              </a:rPr>
              <a:t>DEMO — Act 3 Node Graph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F2D5B9FB-1656-435F-8E5F-4A8933D23984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act3-notes-title">
            <a:extLst>
              <a:ext uri="{FF2B5EF4-FFF2-40B4-BE49-F238E27FC236}">
                <a16:creationId xmlns:a16="http://schemas.microsoft.com/office/drawing/2014/main" id="{E94926BA-EF5C-4AB2-A26B-1A7F0913321A}"/>
              </a:ext>
            </a:extLst>
          </p:cNvPr>
          <p:cNvSpPr>
            <a:spLocks noGrp="1"/>
          </p:cNvSpPr>
          <p:nvPr/>
        </p:nvSpPr>
        <p:spPr>
          <a:xfrm>
            <a:off x="9624231" y="22669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Reply-map gameplay</a:t>
            </a:r>
          </a:p>
        </p:txBody>
      </p:sp>
      <p:sp>
        <p:nvSpPr>
          <p:cNvPr id="9" name="act3-bullets-0">
            <a:extLst>
              <a:ext uri="{FF2B5EF4-FFF2-40B4-BE49-F238E27FC236}">
                <a16:creationId xmlns:a16="http://schemas.microsoft.com/office/drawing/2014/main" id="{A7A1E04E-DBC9-4196-B478-9C20ACE0F8FB}"/>
              </a:ext>
            </a:extLst>
          </p:cNvPr>
          <p:cNvSpPr>
            <a:spLocks noGrp="1"/>
          </p:cNvSpPr>
          <p:nvPr/>
        </p:nvSpPr>
        <p:spPr>
          <a:xfrm>
            <a:off x="9662331" y="2762250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 dirty="0">
                <a:solidFill>
                  <a:srgbClr val="111111"/>
                </a:solidFill>
              </a:rPr>
              <a:t>• Drag cards from palette to canvas.</a:t>
            </a:r>
          </a:p>
        </p:txBody>
      </p:sp>
      <p:sp>
        <p:nvSpPr>
          <p:cNvPr id="10" name="act3-bullets-1">
            <a:extLst>
              <a:ext uri="{FF2B5EF4-FFF2-40B4-BE49-F238E27FC236}">
                <a16:creationId xmlns:a16="http://schemas.microsoft.com/office/drawing/2014/main" id="{F6E1F0A5-5219-4DE6-BA36-F8BF98210778}"/>
              </a:ext>
            </a:extLst>
          </p:cNvPr>
          <p:cNvSpPr>
            <a:spLocks noGrp="1"/>
          </p:cNvSpPr>
          <p:nvPr/>
        </p:nvSpPr>
        <p:spPr>
          <a:xfrm>
            <a:off x="9662331" y="3184194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 dirty="0">
                <a:solidFill>
                  <a:srgbClr val="111111"/>
                </a:solidFill>
              </a:rPr>
              <a:t>• Connect ports with straight wires.</a:t>
            </a:r>
          </a:p>
        </p:txBody>
      </p:sp>
      <p:sp>
        <p:nvSpPr>
          <p:cNvPr id="11" name="act3-bullets-2">
            <a:extLst>
              <a:ext uri="{FF2B5EF4-FFF2-40B4-BE49-F238E27FC236}">
                <a16:creationId xmlns:a16="http://schemas.microsoft.com/office/drawing/2014/main" id="{F25512F7-3AFC-4C60-B846-A24AD92D54C3}"/>
              </a:ext>
            </a:extLst>
          </p:cNvPr>
          <p:cNvSpPr>
            <a:spLocks noGrp="1"/>
          </p:cNvSpPr>
          <p:nvPr/>
        </p:nvSpPr>
        <p:spPr>
          <a:xfrm>
            <a:off x="9662331" y="3435538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 dirty="0">
                <a:solidFill>
                  <a:srgbClr val="111111"/>
                </a:solidFill>
              </a:rPr>
              <a:t>• Test Ghost’s map with target cases.</a:t>
            </a:r>
          </a:p>
        </p:txBody>
      </p:sp>
      <p:sp>
        <p:nvSpPr>
          <p:cNvPr id="12" name="act3-bullets-3">
            <a:extLst>
              <a:ext uri="{FF2B5EF4-FFF2-40B4-BE49-F238E27FC236}">
                <a16:creationId xmlns:a16="http://schemas.microsoft.com/office/drawing/2014/main" id="{A3B99EF4-4D3A-42A5-A98C-55C6052740FE}"/>
              </a:ext>
            </a:extLst>
          </p:cNvPr>
          <p:cNvSpPr>
            <a:spLocks noGrp="1"/>
          </p:cNvSpPr>
          <p:nvPr/>
        </p:nvSpPr>
        <p:spPr>
          <a:xfrm>
            <a:off x="9662331" y="3816538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>
                <a:solidFill>
                  <a:srgbClr val="111111"/>
                </a:solidFill>
              </a:rPr>
              <a:t>• Success/failure changes Ghost’s reaction.</a:t>
            </a:r>
          </a:p>
        </p:txBody>
      </p:sp>
      <p:sp>
        <p:nvSpPr>
          <p:cNvPr id="13" name="act3-bullets-4">
            <a:extLst>
              <a:ext uri="{FF2B5EF4-FFF2-40B4-BE49-F238E27FC236}">
                <a16:creationId xmlns:a16="http://schemas.microsoft.com/office/drawing/2014/main" id="{C2A8A06C-844B-4250-9A24-1750BDB65358}"/>
              </a:ext>
            </a:extLst>
          </p:cNvPr>
          <p:cNvSpPr>
            <a:spLocks noGrp="1"/>
          </p:cNvSpPr>
          <p:nvPr/>
        </p:nvSpPr>
        <p:spPr>
          <a:xfrm>
            <a:off x="9662331" y="4197538"/>
            <a:ext cx="2457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238" b="0" i="0">
                <a:solidFill>
                  <a:srgbClr val="111111"/>
                </a:solidFill>
              </a:rPr>
              <a:t>• Trash / Delete removes nodes or wires.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5B5417-9DCB-4525-FF15-AC6184339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62" y="1325732"/>
            <a:ext cx="9372323" cy="52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5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">
            <a:extLst>
              <a:ext uri="{FF2B5EF4-FFF2-40B4-BE49-F238E27FC236}">
                <a16:creationId xmlns:a16="http://schemas.microsoft.com/office/drawing/2014/main" id="{576B7030-9CED-4AEA-9F6C-A064119615E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B39E3CB-FA8B-4BF5-9E89-513D409521CB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 i="0">
                <a:solidFill>
                  <a:srgbClr val="111111"/>
                </a:solidFill>
              </a:defRPr>
            </a:pPr>
            <a:r>
              <a:rPr lang="en-GB" sz="2700" b="1" dirty="0"/>
              <a:t>Current Prototype Status</a:t>
            </a:r>
            <a:endParaRPr sz="2700" b="1" i="0" dirty="0">
              <a:solidFill>
                <a:srgbClr val="111111"/>
              </a:solidFill>
            </a:endParaRP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C1C1A242-7405-4856-A248-FB9213988A9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able-h1">
            <a:extLst>
              <a:ext uri="{FF2B5EF4-FFF2-40B4-BE49-F238E27FC236}">
                <a16:creationId xmlns:a16="http://schemas.microsoft.com/office/drawing/2014/main" id="{FB01D558-CC0D-4ED1-8A32-A657DB649C66}"/>
              </a:ext>
            </a:extLst>
          </p:cNvPr>
          <p:cNvSpPr>
            <a:spLocks noGrp="1"/>
          </p:cNvSpPr>
          <p:nvPr/>
        </p:nvSpPr>
        <p:spPr>
          <a:xfrm>
            <a:off x="1488743" y="4708769"/>
            <a:ext cx="2344578" cy="238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11111"/>
                </a:solidFill>
              </a:defRPr>
            </a:pPr>
            <a:r>
              <a:rPr sz="1400" b="1" i="0" dirty="0">
                <a:solidFill>
                  <a:srgbClr val="111111"/>
                </a:solidFill>
              </a:rPr>
              <a:t>Area</a:t>
            </a:r>
          </a:p>
        </p:txBody>
      </p:sp>
      <p:sp>
        <p:nvSpPr>
          <p:cNvPr id="6" name="table-h2">
            <a:extLst>
              <a:ext uri="{FF2B5EF4-FFF2-40B4-BE49-F238E27FC236}">
                <a16:creationId xmlns:a16="http://schemas.microsoft.com/office/drawing/2014/main" id="{F3557747-04F4-4840-8BBE-2B32954C8538}"/>
              </a:ext>
            </a:extLst>
          </p:cNvPr>
          <p:cNvSpPr>
            <a:spLocks noGrp="1"/>
          </p:cNvSpPr>
          <p:nvPr/>
        </p:nvSpPr>
        <p:spPr>
          <a:xfrm>
            <a:off x="4074779" y="4680854"/>
            <a:ext cx="5470682" cy="2381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11111"/>
                </a:solidFill>
              </a:defRPr>
            </a:pPr>
            <a:r>
              <a:rPr lang="en-US" altLang="zh-TW" sz="1400" b="1" i="0" dirty="0">
                <a:solidFill>
                  <a:srgbClr val="111111"/>
                </a:solidFill>
              </a:rPr>
              <a:t>Results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7" name="row-line-0">
            <a:extLst>
              <a:ext uri="{FF2B5EF4-FFF2-40B4-BE49-F238E27FC236}">
                <a16:creationId xmlns:a16="http://schemas.microsoft.com/office/drawing/2014/main" id="{3310BD59-4AEB-4AD7-92EE-A5DA2B282053}"/>
              </a:ext>
            </a:extLst>
          </p:cNvPr>
          <p:cNvSpPr>
            <a:spLocks noGrp="1"/>
          </p:cNvSpPr>
          <p:nvPr/>
        </p:nvSpPr>
        <p:spPr>
          <a:xfrm>
            <a:off x="1469692" y="5013569"/>
            <a:ext cx="8075769" cy="45719"/>
          </a:xfrm>
          <a:prstGeom prst="rect">
            <a:avLst/>
          </a:prstGeom>
          <a:solidFill>
            <a:srgbClr val="ECECEC"/>
          </a:solidFill>
          <a:ln w="1143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8" name="row-area-0">
            <a:extLst>
              <a:ext uri="{FF2B5EF4-FFF2-40B4-BE49-F238E27FC236}">
                <a16:creationId xmlns:a16="http://schemas.microsoft.com/office/drawing/2014/main" id="{0080B3F3-037E-4C6E-8A39-3025E8A8F95C}"/>
              </a:ext>
            </a:extLst>
          </p:cNvPr>
          <p:cNvSpPr>
            <a:spLocks noGrp="1"/>
          </p:cNvSpPr>
          <p:nvPr/>
        </p:nvSpPr>
        <p:spPr>
          <a:xfrm>
            <a:off x="1488743" y="5089769"/>
            <a:ext cx="2344578" cy="2598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111111"/>
                </a:solidFill>
              </a:defRPr>
            </a:pPr>
            <a:r>
              <a:rPr lang="en-GB" sz="1200" b="1" dirty="0"/>
              <a:t>Playable content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9" name="row-evidence-0">
            <a:extLst>
              <a:ext uri="{FF2B5EF4-FFF2-40B4-BE49-F238E27FC236}">
                <a16:creationId xmlns:a16="http://schemas.microsoft.com/office/drawing/2014/main" id="{72E26E06-6B5F-481E-BBE9-70B0DD98F499}"/>
              </a:ext>
            </a:extLst>
          </p:cNvPr>
          <p:cNvSpPr>
            <a:spLocks noGrp="1"/>
          </p:cNvSpPr>
          <p:nvPr/>
        </p:nvSpPr>
        <p:spPr>
          <a:xfrm>
            <a:off x="3257332" y="5124605"/>
            <a:ext cx="5210175" cy="324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4A4A4A"/>
                </a:solidFill>
              </a:defRPr>
            </a:pPr>
            <a:r>
              <a:rPr lang="en-GB" sz="1125" dirty="0"/>
              <a:t>Game shell and Acts 1–3 screens are implemented</a:t>
            </a:r>
            <a:endParaRPr b="0" i="0" dirty="0">
              <a:solidFill>
                <a:srgbClr val="4A4A4A"/>
              </a:solidFill>
            </a:endParaRPr>
          </a:p>
        </p:txBody>
      </p:sp>
      <p:sp>
        <p:nvSpPr>
          <p:cNvPr id="10" name="row-line-1">
            <a:extLst>
              <a:ext uri="{FF2B5EF4-FFF2-40B4-BE49-F238E27FC236}">
                <a16:creationId xmlns:a16="http://schemas.microsoft.com/office/drawing/2014/main" id="{F2149490-1C8A-4276-AD7C-919F22E3A4BB}"/>
              </a:ext>
            </a:extLst>
          </p:cNvPr>
          <p:cNvSpPr>
            <a:spLocks noGrp="1"/>
          </p:cNvSpPr>
          <p:nvPr/>
        </p:nvSpPr>
        <p:spPr>
          <a:xfrm>
            <a:off x="1469692" y="5470483"/>
            <a:ext cx="8075769" cy="45719"/>
          </a:xfrm>
          <a:prstGeom prst="rect">
            <a:avLst/>
          </a:prstGeom>
          <a:solidFill>
            <a:srgbClr val="ECECEC"/>
          </a:solidFill>
          <a:ln w="1143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11" name="row-area-1">
            <a:extLst>
              <a:ext uri="{FF2B5EF4-FFF2-40B4-BE49-F238E27FC236}">
                <a16:creationId xmlns:a16="http://schemas.microsoft.com/office/drawing/2014/main" id="{285D92A9-72BA-4522-800A-D0B01B07AF28}"/>
              </a:ext>
            </a:extLst>
          </p:cNvPr>
          <p:cNvSpPr>
            <a:spLocks noGrp="1"/>
          </p:cNvSpPr>
          <p:nvPr/>
        </p:nvSpPr>
        <p:spPr>
          <a:xfrm>
            <a:off x="1488743" y="5546683"/>
            <a:ext cx="2344578" cy="2598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111111"/>
                </a:solidFill>
              </a:defRPr>
            </a:pPr>
            <a:r>
              <a:rPr lang="en-GB" sz="1200" b="1" dirty="0"/>
              <a:t>Puzzle checking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12" name="row-evidence-1">
            <a:extLst>
              <a:ext uri="{FF2B5EF4-FFF2-40B4-BE49-F238E27FC236}">
                <a16:creationId xmlns:a16="http://schemas.microsoft.com/office/drawing/2014/main" id="{B8292F48-7B47-4B4D-8D66-013CCC33085A}"/>
              </a:ext>
            </a:extLst>
          </p:cNvPr>
          <p:cNvSpPr>
            <a:spLocks noGrp="1"/>
          </p:cNvSpPr>
          <p:nvPr/>
        </p:nvSpPr>
        <p:spPr>
          <a:xfrm>
            <a:off x="3257331" y="5557932"/>
            <a:ext cx="5210175" cy="324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4A4A4A"/>
                </a:solidFill>
              </a:defRPr>
            </a:pPr>
            <a:r>
              <a:rPr lang="en-GB" sz="1125" dirty="0"/>
              <a:t>Rule-based validators are implemented</a:t>
            </a:r>
            <a:endParaRPr b="0" i="0" dirty="0">
              <a:solidFill>
                <a:srgbClr val="4A4A4A"/>
              </a:solidFill>
            </a:endParaRPr>
          </a:p>
        </p:txBody>
      </p:sp>
      <p:sp>
        <p:nvSpPr>
          <p:cNvPr id="13" name="row-line-2">
            <a:extLst>
              <a:ext uri="{FF2B5EF4-FFF2-40B4-BE49-F238E27FC236}">
                <a16:creationId xmlns:a16="http://schemas.microsoft.com/office/drawing/2014/main" id="{932DD596-7294-4820-94EC-9D85D6737D36}"/>
              </a:ext>
            </a:extLst>
          </p:cNvPr>
          <p:cNvSpPr>
            <a:spLocks noGrp="1"/>
          </p:cNvSpPr>
          <p:nvPr/>
        </p:nvSpPr>
        <p:spPr>
          <a:xfrm>
            <a:off x="1469692" y="5852333"/>
            <a:ext cx="8075769" cy="45719"/>
          </a:xfrm>
          <a:prstGeom prst="rect">
            <a:avLst/>
          </a:prstGeom>
          <a:solidFill>
            <a:srgbClr val="ECECEC"/>
          </a:solidFill>
          <a:ln w="1143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14" name="row-area-2">
            <a:extLst>
              <a:ext uri="{FF2B5EF4-FFF2-40B4-BE49-F238E27FC236}">
                <a16:creationId xmlns:a16="http://schemas.microsoft.com/office/drawing/2014/main" id="{6FC62BD0-51B4-4927-B13A-6239C7EF1F0D}"/>
              </a:ext>
            </a:extLst>
          </p:cNvPr>
          <p:cNvSpPr>
            <a:spLocks noGrp="1"/>
          </p:cNvSpPr>
          <p:nvPr/>
        </p:nvSpPr>
        <p:spPr>
          <a:xfrm>
            <a:off x="1488743" y="5928533"/>
            <a:ext cx="2344578" cy="2598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111111"/>
                </a:solidFill>
              </a:defRPr>
            </a:pPr>
            <a:r>
              <a:rPr lang="en-GB" sz="1200" b="1" dirty="0"/>
              <a:t>Story data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15" name="row-evidence-2">
            <a:extLst>
              <a:ext uri="{FF2B5EF4-FFF2-40B4-BE49-F238E27FC236}">
                <a16:creationId xmlns:a16="http://schemas.microsoft.com/office/drawing/2014/main" id="{54AE9C5A-0DF2-4143-BE9C-0B9886EED2ED}"/>
              </a:ext>
            </a:extLst>
          </p:cNvPr>
          <p:cNvSpPr>
            <a:spLocks noGrp="1"/>
          </p:cNvSpPr>
          <p:nvPr/>
        </p:nvSpPr>
        <p:spPr>
          <a:xfrm>
            <a:off x="3257331" y="5925915"/>
            <a:ext cx="5210175" cy="324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4A4A4A"/>
                </a:solidFill>
              </a:defRPr>
            </a:pPr>
            <a:r>
              <a:rPr lang="en-GB" sz="1125" dirty="0"/>
              <a:t>Act intro and in-act dialogue data are connected</a:t>
            </a:r>
            <a:endParaRPr b="0" i="0" dirty="0">
              <a:solidFill>
                <a:srgbClr val="4A4A4A"/>
              </a:solidFill>
            </a:endParaRPr>
          </a:p>
        </p:txBody>
      </p:sp>
      <p:sp>
        <p:nvSpPr>
          <p:cNvPr id="16" name="row-line-3">
            <a:extLst>
              <a:ext uri="{FF2B5EF4-FFF2-40B4-BE49-F238E27FC236}">
                <a16:creationId xmlns:a16="http://schemas.microsoft.com/office/drawing/2014/main" id="{790318EA-7B65-4D89-823B-AA3DF8BAE76D}"/>
              </a:ext>
            </a:extLst>
          </p:cNvPr>
          <p:cNvSpPr>
            <a:spLocks noGrp="1"/>
          </p:cNvSpPr>
          <p:nvPr/>
        </p:nvSpPr>
        <p:spPr>
          <a:xfrm>
            <a:off x="1469692" y="6288775"/>
            <a:ext cx="8075769" cy="45719"/>
          </a:xfrm>
          <a:prstGeom prst="rect">
            <a:avLst/>
          </a:prstGeom>
          <a:solidFill>
            <a:srgbClr val="ECECEC"/>
          </a:solidFill>
          <a:ln w="1143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en-GB" sz="3200"/>
          </a:p>
        </p:txBody>
      </p:sp>
      <p:sp>
        <p:nvSpPr>
          <p:cNvPr id="17" name="row-area-3">
            <a:extLst>
              <a:ext uri="{FF2B5EF4-FFF2-40B4-BE49-F238E27FC236}">
                <a16:creationId xmlns:a16="http://schemas.microsoft.com/office/drawing/2014/main" id="{89A194FB-3E39-4C0C-B432-8A50E22F711F}"/>
              </a:ext>
            </a:extLst>
          </p:cNvPr>
          <p:cNvSpPr>
            <a:spLocks noGrp="1"/>
          </p:cNvSpPr>
          <p:nvPr/>
        </p:nvSpPr>
        <p:spPr>
          <a:xfrm>
            <a:off x="1488743" y="6364975"/>
            <a:ext cx="2344578" cy="2598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111111"/>
                </a:solidFill>
              </a:defRPr>
            </a:pPr>
            <a:r>
              <a:rPr lang="en-GB" sz="1200" b="1" dirty="0"/>
              <a:t>Backend</a:t>
            </a:r>
            <a:endParaRPr sz="1400" b="1" i="0" dirty="0">
              <a:solidFill>
                <a:srgbClr val="111111"/>
              </a:solidFill>
            </a:endParaRPr>
          </a:p>
        </p:txBody>
      </p:sp>
      <p:sp>
        <p:nvSpPr>
          <p:cNvPr id="18" name="row-evidence-3">
            <a:extLst>
              <a:ext uri="{FF2B5EF4-FFF2-40B4-BE49-F238E27FC236}">
                <a16:creationId xmlns:a16="http://schemas.microsoft.com/office/drawing/2014/main" id="{B1071DD7-3088-4AFA-BF37-155306ABBF05}"/>
              </a:ext>
            </a:extLst>
          </p:cNvPr>
          <p:cNvSpPr>
            <a:spLocks noGrp="1"/>
          </p:cNvSpPr>
          <p:nvPr/>
        </p:nvSpPr>
        <p:spPr>
          <a:xfrm>
            <a:off x="3267851" y="6351108"/>
            <a:ext cx="5210175" cy="324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4A4A4A"/>
                </a:solidFill>
              </a:defRPr>
            </a:pPr>
            <a:r>
              <a:rPr lang="en-GB" sz="1125" dirty="0"/>
              <a:t>Content, profile, progress, and attempt logging APIs are working</a:t>
            </a:r>
            <a:endParaRPr b="0" i="0" dirty="0">
              <a:solidFill>
                <a:srgbClr val="4A4A4A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50BDE10-64F2-8167-CE65-72ED2DF9B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57" y="1209624"/>
            <a:ext cx="9473856" cy="33927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D4DAD31-B69D-6CF3-B656-A5BB2F1C955B}"/>
              </a:ext>
            </a:extLst>
          </p:cNvPr>
          <p:cNvSpPr txBox="1"/>
          <p:nvPr/>
        </p:nvSpPr>
        <p:spPr>
          <a:xfrm>
            <a:off x="5962366" y="854729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Backend log proof: attempts and progress saved in SQLite</a:t>
            </a:r>
          </a:p>
        </p:txBody>
      </p:sp>
    </p:spTree>
    <p:extLst>
      <p:ext uri="{BB962C8B-B14F-4D97-AF65-F5344CB8AC3E}">
        <p14:creationId xmlns:p14="http://schemas.microsoft.com/office/powerpoint/2010/main" val="20703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kicker">
            <a:extLst>
              <a:ext uri="{FF2B5EF4-FFF2-40B4-BE49-F238E27FC236}">
                <a16:creationId xmlns:a16="http://schemas.microsoft.com/office/drawing/2014/main" id="{228F5C78-BDBA-4BD5-9712-C7B516054C8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 i="0">
                <a:solidFill>
                  <a:srgbClr val="111111"/>
                </a:solidFill>
              </a:defRPr>
            </a:pPr>
            <a:r>
              <a:rPr sz="900" b="1" i="0">
                <a:solidFill>
                  <a:srgbClr val="111111"/>
                </a:solidFill>
              </a:rPr>
              <a:t>4TH GROUP MEETING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6F33215-0667-4F30-BACF-88818C4C8465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11111"/>
                </a:solidFill>
              </a:defRPr>
            </a:pPr>
            <a:r>
              <a:rPr sz="2700" b="1" i="0">
                <a:solidFill>
                  <a:srgbClr val="111111"/>
                </a:solidFill>
              </a:rPr>
              <a:t>System Architecture: Planned vs Implemented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C5606E0B-16B1-47D5-A23D-4BA81065108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800100" cy="47625"/>
          </a:xfrm>
          <a:prstGeom prst="rect">
            <a:avLst/>
          </a:prstGeom>
          <a:solidFill>
            <a:srgbClr val="D0D0D0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arch-box-0">
            <a:extLst>
              <a:ext uri="{FF2B5EF4-FFF2-40B4-BE49-F238E27FC236}">
                <a16:creationId xmlns:a16="http://schemas.microsoft.com/office/drawing/2014/main" id="{08B5C5D4-166F-4D64-B051-FD4A30E21CA5}"/>
              </a:ext>
            </a:extLst>
          </p:cNvPr>
          <p:cNvSpPr>
            <a:spLocks noGrp="1"/>
          </p:cNvSpPr>
          <p:nvPr/>
        </p:nvSpPr>
        <p:spPr>
          <a:xfrm>
            <a:off x="2253729" y="1857375"/>
            <a:ext cx="1924050" cy="114300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arch-head-0">
            <a:extLst>
              <a:ext uri="{FF2B5EF4-FFF2-40B4-BE49-F238E27FC236}">
                <a16:creationId xmlns:a16="http://schemas.microsoft.com/office/drawing/2014/main" id="{A80493C8-A274-4DA1-AE7C-3A5DD5DF7EEB}"/>
              </a:ext>
            </a:extLst>
          </p:cNvPr>
          <p:cNvSpPr>
            <a:spLocks noGrp="1"/>
          </p:cNvSpPr>
          <p:nvPr/>
        </p:nvSpPr>
        <p:spPr>
          <a:xfrm>
            <a:off x="2406129" y="20859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Unity WebGL Client</a:t>
            </a:r>
          </a:p>
        </p:txBody>
      </p:sp>
      <p:sp>
        <p:nvSpPr>
          <p:cNvPr id="6" name="arch-body-0">
            <a:extLst>
              <a:ext uri="{FF2B5EF4-FFF2-40B4-BE49-F238E27FC236}">
                <a16:creationId xmlns:a16="http://schemas.microsoft.com/office/drawing/2014/main" id="{E82995C7-E69D-447E-8B38-B8094FE2D8A4}"/>
              </a:ext>
            </a:extLst>
          </p:cNvPr>
          <p:cNvSpPr>
            <a:spLocks noGrp="1"/>
          </p:cNvSpPr>
          <p:nvPr/>
        </p:nvSpPr>
        <p:spPr>
          <a:xfrm>
            <a:off x="2406129" y="2447925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 i="0">
                <a:solidFill>
                  <a:srgbClr val="4A4A4A"/>
                </a:solidFill>
              </a:defRPr>
            </a:pPr>
            <a:r>
              <a:rPr sz="1013" b="0" i="0">
                <a:solidFill>
                  <a:srgbClr val="4A4A4A"/>
                </a:solidFill>
              </a:rPr>
              <a:t>Shell + Acts 1–3</a:t>
            </a:r>
          </a:p>
        </p:txBody>
      </p:sp>
      <p:sp>
        <p:nvSpPr>
          <p:cNvPr id="11" name="arch-arrow-1">
            <a:extLst>
              <a:ext uri="{FF2B5EF4-FFF2-40B4-BE49-F238E27FC236}">
                <a16:creationId xmlns:a16="http://schemas.microsoft.com/office/drawing/2014/main" id="{8C7358B6-B024-4DFD-949B-7080630A5C1D}"/>
              </a:ext>
            </a:extLst>
          </p:cNvPr>
          <p:cNvSpPr>
            <a:spLocks noGrp="1"/>
          </p:cNvSpPr>
          <p:nvPr/>
        </p:nvSpPr>
        <p:spPr>
          <a:xfrm>
            <a:off x="4501629" y="228600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2" name="arch-box-2">
            <a:extLst>
              <a:ext uri="{FF2B5EF4-FFF2-40B4-BE49-F238E27FC236}">
                <a16:creationId xmlns:a16="http://schemas.microsoft.com/office/drawing/2014/main" id="{E9D84D32-9D20-4101-80C8-ED28F9E511FE}"/>
              </a:ext>
            </a:extLst>
          </p:cNvPr>
          <p:cNvSpPr>
            <a:spLocks noGrp="1"/>
          </p:cNvSpPr>
          <p:nvPr/>
        </p:nvSpPr>
        <p:spPr>
          <a:xfrm>
            <a:off x="4892154" y="1866900"/>
            <a:ext cx="19240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arch-head-2">
            <a:extLst>
              <a:ext uri="{FF2B5EF4-FFF2-40B4-BE49-F238E27FC236}">
                <a16:creationId xmlns:a16="http://schemas.microsoft.com/office/drawing/2014/main" id="{02C7300D-A5CB-454E-92D8-AF1DBB10F14F}"/>
              </a:ext>
            </a:extLst>
          </p:cNvPr>
          <p:cNvSpPr>
            <a:spLocks noGrp="1"/>
          </p:cNvSpPr>
          <p:nvPr/>
        </p:nvSpPr>
        <p:spPr>
          <a:xfrm>
            <a:off x="5044554" y="20955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Node.js / TS REST</a:t>
            </a:r>
          </a:p>
        </p:txBody>
      </p:sp>
      <p:sp>
        <p:nvSpPr>
          <p:cNvPr id="14" name="arch-body-2">
            <a:extLst>
              <a:ext uri="{FF2B5EF4-FFF2-40B4-BE49-F238E27FC236}">
                <a16:creationId xmlns:a16="http://schemas.microsoft.com/office/drawing/2014/main" id="{1331DDA3-7CB5-4B72-8560-6335007AAC99}"/>
              </a:ext>
            </a:extLst>
          </p:cNvPr>
          <p:cNvSpPr>
            <a:spLocks noGrp="1"/>
          </p:cNvSpPr>
          <p:nvPr/>
        </p:nvSpPr>
        <p:spPr>
          <a:xfrm>
            <a:off x="5044554" y="24574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 i="0">
                <a:solidFill>
                  <a:srgbClr val="4A4A4A"/>
                </a:solidFill>
              </a:defRPr>
            </a:pPr>
            <a:r>
              <a:rPr sz="1013" b="0" i="0">
                <a:solidFill>
                  <a:srgbClr val="4A4A4A"/>
                </a:solidFill>
              </a:rPr>
              <a:t>content, progress, attempts</a:t>
            </a:r>
          </a:p>
        </p:txBody>
      </p:sp>
      <p:sp>
        <p:nvSpPr>
          <p:cNvPr id="15" name="arch-arrow-2">
            <a:extLst>
              <a:ext uri="{FF2B5EF4-FFF2-40B4-BE49-F238E27FC236}">
                <a16:creationId xmlns:a16="http://schemas.microsoft.com/office/drawing/2014/main" id="{C9AEAD79-C3FB-43A7-A974-7772B7DD324B}"/>
              </a:ext>
            </a:extLst>
          </p:cNvPr>
          <p:cNvSpPr>
            <a:spLocks noGrp="1"/>
          </p:cNvSpPr>
          <p:nvPr/>
        </p:nvSpPr>
        <p:spPr>
          <a:xfrm>
            <a:off x="6920979" y="2286000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 dirty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6" name="arch-box-3">
            <a:extLst>
              <a:ext uri="{FF2B5EF4-FFF2-40B4-BE49-F238E27FC236}">
                <a16:creationId xmlns:a16="http://schemas.microsoft.com/office/drawing/2014/main" id="{6A87FA43-86B1-4288-AEB1-ECB0A1440714}"/>
              </a:ext>
            </a:extLst>
          </p:cNvPr>
          <p:cNvSpPr>
            <a:spLocks noGrp="1"/>
          </p:cNvSpPr>
          <p:nvPr/>
        </p:nvSpPr>
        <p:spPr>
          <a:xfrm>
            <a:off x="7311504" y="1866900"/>
            <a:ext cx="19240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arch-head-3">
            <a:extLst>
              <a:ext uri="{FF2B5EF4-FFF2-40B4-BE49-F238E27FC236}">
                <a16:creationId xmlns:a16="http://schemas.microsoft.com/office/drawing/2014/main" id="{9D6C7A4F-021D-484D-BF2E-B465B6727114}"/>
              </a:ext>
            </a:extLst>
          </p:cNvPr>
          <p:cNvSpPr>
            <a:spLocks noGrp="1"/>
          </p:cNvSpPr>
          <p:nvPr/>
        </p:nvSpPr>
        <p:spPr>
          <a:xfrm>
            <a:off x="7463904" y="20955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SQLite Database</a:t>
            </a:r>
          </a:p>
        </p:txBody>
      </p:sp>
      <p:sp>
        <p:nvSpPr>
          <p:cNvPr id="18" name="arch-body-3">
            <a:extLst>
              <a:ext uri="{FF2B5EF4-FFF2-40B4-BE49-F238E27FC236}">
                <a16:creationId xmlns:a16="http://schemas.microsoft.com/office/drawing/2014/main" id="{EA8C7BB6-8165-4947-866E-DA267D896705}"/>
              </a:ext>
            </a:extLst>
          </p:cNvPr>
          <p:cNvSpPr>
            <a:spLocks noGrp="1"/>
          </p:cNvSpPr>
          <p:nvPr/>
        </p:nvSpPr>
        <p:spPr>
          <a:xfrm>
            <a:off x="7463904" y="24574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 i="0">
                <a:solidFill>
                  <a:srgbClr val="4A4A4A"/>
                </a:solidFill>
              </a:defRPr>
            </a:pPr>
            <a:r>
              <a:rPr sz="1013" b="0" i="0">
                <a:solidFill>
                  <a:srgbClr val="4A4A4A"/>
                </a:solidFill>
              </a:rPr>
              <a:t>local prototype store</a:t>
            </a:r>
          </a:p>
        </p:txBody>
      </p:sp>
      <p:sp>
        <p:nvSpPr>
          <p:cNvPr id="19" name="future-llm">
            <a:extLst>
              <a:ext uri="{FF2B5EF4-FFF2-40B4-BE49-F238E27FC236}">
                <a16:creationId xmlns:a16="http://schemas.microsoft.com/office/drawing/2014/main" id="{E4C94C32-7545-46BD-B68F-F8C51DF693B6}"/>
              </a:ext>
            </a:extLst>
          </p:cNvPr>
          <p:cNvSpPr>
            <a:spLocks noGrp="1"/>
          </p:cNvSpPr>
          <p:nvPr/>
        </p:nvSpPr>
        <p:spPr>
          <a:xfrm>
            <a:off x="4892154" y="3810000"/>
            <a:ext cx="1924050" cy="876300"/>
          </a:xfrm>
          <a:prstGeom prst="roundRect">
            <a:avLst>
              <a:gd name="adj" fmla="val 13043"/>
            </a:avLst>
          </a:prstGeom>
          <a:solidFill>
            <a:srgbClr val="F6F6F6"/>
          </a:solidFill>
          <a:ln w="1143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future-llm-title">
            <a:extLst>
              <a:ext uri="{FF2B5EF4-FFF2-40B4-BE49-F238E27FC236}">
                <a16:creationId xmlns:a16="http://schemas.microsoft.com/office/drawing/2014/main" id="{A1A1A669-D2FE-4BE6-8042-07D1FC5E4122}"/>
              </a:ext>
            </a:extLst>
          </p:cNvPr>
          <p:cNvSpPr>
            <a:spLocks noGrp="1"/>
          </p:cNvSpPr>
          <p:nvPr/>
        </p:nvSpPr>
        <p:spPr>
          <a:xfrm>
            <a:off x="5063604" y="392430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 dirty="0">
                <a:solidFill>
                  <a:srgbClr val="111111"/>
                </a:solidFill>
              </a:rPr>
              <a:t>LLM layer</a:t>
            </a:r>
          </a:p>
        </p:txBody>
      </p:sp>
      <p:sp>
        <p:nvSpPr>
          <p:cNvPr id="21" name="future-llm-copy">
            <a:extLst>
              <a:ext uri="{FF2B5EF4-FFF2-40B4-BE49-F238E27FC236}">
                <a16:creationId xmlns:a16="http://schemas.microsoft.com/office/drawing/2014/main" id="{9FA47405-D3DB-49C9-9EBA-54533EC7394B}"/>
              </a:ext>
            </a:extLst>
          </p:cNvPr>
          <p:cNvSpPr>
            <a:spLocks noGrp="1"/>
          </p:cNvSpPr>
          <p:nvPr/>
        </p:nvSpPr>
        <p:spPr>
          <a:xfrm>
            <a:off x="5082654" y="4229100"/>
            <a:ext cx="154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0" i="0">
                <a:solidFill>
                  <a:srgbClr val="4A4A4A"/>
                </a:solidFill>
              </a:defRPr>
            </a:pPr>
            <a:r>
              <a:rPr sz="1013" b="0" i="0">
                <a:solidFill>
                  <a:srgbClr val="4A4A4A"/>
                </a:solidFill>
              </a:rPr>
              <a:t>hints, explanations, response variation</a:t>
            </a:r>
          </a:p>
        </p:txBody>
      </p:sp>
      <p:sp>
        <p:nvSpPr>
          <p:cNvPr id="22" name="future-arrow">
            <a:extLst>
              <a:ext uri="{FF2B5EF4-FFF2-40B4-BE49-F238E27FC236}">
                <a16:creationId xmlns:a16="http://schemas.microsoft.com/office/drawing/2014/main" id="{D0BE6753-5ADD-4899-AA77-F70AE7D44402}"/>
              </a:ext>
            </a:extLst>
          </p:cNvPr>
          <p:cNvSpPr>
            <a:spLocks noGrp="1"/>
          </p:cNvSpPr>
          <p:nvPr/>
        </p:nvSpPr>
        <p:spPr>
          <a:xfrm>
            <a:off x="5730354" y="3200400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 dirty="0">
                <a:solidFill>
                  <a:srgbClr val="111111"/>
                </a:solidFill>
              </a:rPr>
              <a:t>↑</a:t>
            </a:r>
          </a:p>
        </p:txBody>
      </p:sp>
      <p:sp>
        <p:nvSpPr>
          <p:cNvPr id="23" name="implemented-list">
            <a:extLst>
              <a:ext uri="{FF2B5EF4-FFF2-40B4-BE49-F238E27FC236}">
                <a16:creationId xmlns:a16="http://schemas.microsoft.com/office/drawing/2014/main" id="{847F696D-0CBF-483E-8278-9797E88FC050}"/>
              </a:ext>
            </a:extLst>
          </p:cNvPr>
          <p:cNvSpPr>
            <a:spLocks noGrp="1"/>
          </p:cNvSpPr>
          <p:nvPr/>
        </p:nvSpPr>
        <p:spPr>
          <a:xfrm>
            <a:off x="838200" y="5181600"/>
            <a:ext cx="46482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impl-title">
            <a:extLst>
              <a:ext uri="{FF2B5EF4-FFF2-40B4-BE49-F238E27FC236}">
                <a16:creationId xmlns:a16="http://schemas.microsoft.com/office/drawing/2014/main" id="{23526E5F-1F8F-4404-9054-DAEE1D7F9237}"/>
              </a:ext>
            </a:extLst>
          </p:cNvPr>
          <p:cNvSpPr>
            <a:spLocks noGrp="1"/>
          </p:cNvSpPr>
          <p:nvPr/>
        </p:nvSpPr>
        <p:spPr>
          <a:xfrm>
            <a:off x="1085850" y="5353050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Implemented</a:t>
            </a:r>
          </a:p>
        </p:txBody>
      </p:sp>
      <p:sp>
        <p:nvSpPr>
          <p:cNvPr id="25" name="impl-copy">
            <a:extLst>
              <a:ext uri="{FF2B5EF4-FFF2-40B4-BE49-F238E27FC236}">
                <a16:creationId xmlns:a16="http://schemas.microsoft.com/office/drawing/2014/main" id="{56EB7DF6-0E41-4F46-AC55-E641FC534E54}"/>
              </a:ext>
            </a:extLst>
          </p:cNvPr>
          <p:cNvSpPr>
            <a:spLocks noGrp="1"/>
          </p:cNvSpPr>
          <p:nvPr/>
        </p:nvSpPr>
        <p:spPr>
          <a:xfrm>
            <a:off x="2362200" y="5353050"/>
            <a:ext cx="2914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 i="0">
                <a:solidFill>
                  <a:srgbClr val="4A4A4A"/>
                </a:solidFill>
              </a:defRPr>
            </a:pPr>
            <a:r>
              <a:rPr sz="1088" b="0" i="0">
                <a:solidFill>
                  <a:srgbClr val="4A4A4A"/>
                </a:solidFill>
              </a:rPr>
              <a:t>Acts 1–3 · Game Shell/narrative · backend REST service · SQLite schema · client sync</a:t>
            </a:r>
          </a:p>
        </p:txBody>
      </p:sp>
      <p:sp>
        <p:nvSpPr>
          <p:cNvPr id="26" name="future-list">
            <a:extLst>
              <a:ext uri="{FF2B5EF4-FFF2-40B4-BE49-F238E27FC236}">
                <a16:creationId xmlns:a16="http://schemas.microsoft.com/office/drawing/2014/main" id="{D525F604-FF83-4C7D-8EB2-6AD2FE4EF39A}"/>
              </a:ext>
            </a:extLst>
          </p:cNvPr>
          <p:cNvSpPr>
            <a:spLocks noGrp="1"/>
          </p:cNvSpPr>
          <p:nvPr/>
        </p:nvSpPr>
        <p:spPr>
          <a:xfrm>
            <a:off x="6705600" y="5181600"/>
            <a:ext cx="46482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future-title">
            <a:extLst>
              <a:ext uri="{FF2B5EF4-FFF2-40B4-BE49-F238E27FC236}">
                <a16:creationId xmlns:a16="http://schemas.microsoft.com/office/drawing/2014/main" id="{56EAD893-D425-4A17-A974-E500F2466EC7}"/>
              </a:ext>
            </a:extLst>
          </p:cNvPr>
          <p:cNvSpPr>
            <a:spLocks noGrp="1"/>
          </p:cNvSpPr>
          <p:nvPr/>
        </p:nvSpPr>
        <p:spPr>
          <a:xfrm>
            <a:off x="6953250" y="5353050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Future</a:t>
            </a:r>
          </a:p>
        </p:txBody>
      </p:sp>
      <p:sp>
        <p:nvSpPr>
          <p:cNvPr id="28" name="future-copy">
            <a:extLst>
              <a:ext uri="{FF2B5EF4-FFF2-40B4-BE49-F238E27FC236}">
                <a16:creationId xmlns:a16="http://schemas.microsoft.com/office/drawing/2014/main" id="{97DC0467-5F2C-4570-BF21-170042940DB1}"/>
              </a:ext>
            </a:extLst>
          </p:cNvPr>
          <p:cNvSpPr>
            <a:spLocks noGrp="1"/>
          </p:cNvSpPr>
          <p:nvPr/>
        </p:nvSpPr>
        <p:spPr>
          <a:xfrm>
            <a:off x="8058150" y="53530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 i="0">
                <a:solidFill>
                  <a:srgbClr val="4A4A4A"/>
                </a:solidFill>
              </a:defRPr>
            </a:pPr>
            <a:r>
              <a:rPr sz="1088" b="0" i="0">
                <a:solidFill>
                  <a:srgbClr val="4A4A4A"/>
                </a:solidFill>
              </a:rPr>
              <a:t>LLM hints/Ghost responses · Acts 4–8 graph extensions and capstone</a:t>
            </a:r>
          </a:p>
        </p:txBody>
      </p:sp>
      <p:sp>
        <p:nvSpPr>
          <p:cNvPr id="32" name="discussion-bullets-1">
            <a:extLst>
              <a:ext uri="{FF2B5EF4-FFF2-40B4-BE49-F238E27FC236}">
                <a16:creationId xmlns:a16="http://schemas.microsoft.com/office/drawing/2014/main" id="{33F5C1FE-0EA8-35F8-A299-232CC99E5535}"/>
              </a:ext>
            </a:extLst>
          </p:cNvPr>
          <p:cNvSpPr>
            <a:spLocks noGrp="1"/>
          </p:cNvSpPr>
          <p:nvPr/>
        </p:nvSpPr>
        <p:spPr>
          <a:xfrm>
            <a:off x="3102733" y="6286500"/>
            <a:ext cx="545313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38" b="0" i="0">
                <a:solidFill>
                  <a:srgbClr val="111111"/>
                </a:solidFill>
              </a:defRPr>
            </a:pPr>
            <a:r>
              <a:rPr sz="1400" b="0" i="0" dirty="0">
                <a:solidFill>
                  <a:srgbClr val="111111"/>
                </a:solidFill>
              </a:rPr>
              <a:t>How much LLM integration is necessary for final assessment?</a:t>
            </a:r>
          </a:p>
        </p:txBody>
      </p:sp>
      <p:sp>
        <p:nvSpPr>
          <p:cNvPr id="37" name="future-arrow">
            <a:extLst>
              <a:ext uri="{FF2B5EF4-FFF2-40B4-BE49-F238E27FC236}">
                <a16:creationId xmlns:a16="http://schemas.microsoft.com/office/drawing/2014/main" id="{81746032-3FBB-B243-EB33-1879D877F0AF}"/>
              </a:ext>
            </a:extLst>
          </p:cNvPr>
          <p:cNvSpPr>
            <a:spLocks noGrp="1"/>
          </p:cNvSpPr>
          <p:nvPr/>
        </p:nvSpPr>
        <p:spPr>
          <a:xfrm rot="10800000">
            <a:off x="5730354" y="3409950"/>
            <a:ext cx="26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 dirty="0">
                <a:solidFill>
                  <a:srgbClr val="111111"/>
                </a:solidFill>
              </a:rPr>
              <a:t>↑</a:t>
            </a:r>
          </a:p>
        </p:txBody>
      </p:sp>
      <p:sp>
        <p:nvSpPr>
          <p:cNvPr id="39" name="arch-arrow-2">
            <a:extLst>
              <a:ext uri="{FF2B5EF4-FFF2-40B4-BE49-F238E27FC236}">
                <a16:creationId xmlns:a16="http://schemas.microsoft.com/office/drawing/2014/main" id="{E207493F-7C8D-0FB2-5173-359C259B47E2}"/>
              </a:ext>
            </a:extLst>
          </p:cNvPr>
          <p:cNvSpPr>
            <a:spLocks noGrp="1"/>
          </p:cNvSpPr>
          <p:nvPr/>
        </p:nvSpPr>
        <p:spPr>
          <a:xfrm rot="10800000">
            <a:off x="6806679" y="2435699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 dirty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40" name="arch-arrow-2">
            <a:extLst>
              <a:ext uri="{FF2B5EF4-FFF2-40B4-BE49-F238E27FC236}">
                <a16:creationId xmlns:a16="http://schemas.microsoft.com/office/drawing/2014/main" id="{ED442E99-406A-5991-7D69-3C154D9C6BB0}"/>
              </a:ext>
            </a:extLst>
          </p:cNvPr>
          <p:cNvSpPr>
            <a:spLocks noGrp="1"/>
          </p:cNvSpPr>
          <p:nvPr/>
        </p:nvSpPr>
        <p:spPr>
          <a:xfrm rot="10800000">
            <a:off x="4358754" y="242887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endParaRPr sz="2250" b="1" i="0" dirty="0">
              <a:solidFill>
                <a:srgbClr val="111111"/>
              </a:solidFill>
            </a:endParaRPr>
          </a:p>
        </p:txBody>
      </p:sp>
      <p:sp>
        <p:nvSpPr>
          <p:cNvPr id="41" name="arch-arrow-2">
            <a:extLst>
              <a:ext uri="{FF2B5EF4-FFF2-40B4-BE49-F238E27FC236}">
                <a16:creationId xmlns:a16="http://schemas.microsoft.com/office/drawing/2014/main" id="{E918B8B8-DFE3-0CC1-0F87-6BFF5ABC57EA}"/>
              </a:ext>
            </a:extLst>
          </p:cNvPr>
          <p:cNvSpPr>
            <a:spLocks noGrp="1"/>
          </p:cNvSpPr>
          <p:nvPr/>
        </p:nvSpPr>
        <p:spPr>
          <a:xfrm rot="10800000">
            <a:off x="4339704" y="2435699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111111"/>
                </a:solidFill>
              </a:defRPr>
            </a:pPr>
            <a:r>
              <a:rPr sz="2250" b="1" i="0" dirty="0">
                <a:solidFill>
                  <a:srgbClr val="111111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73571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449</Words>
  <Application>Microsoft Office PowerPoint</Application>
  <DocSecurity>0</DocSecurity>
  <PresentationFormat>Widescreen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Chao-Yang Tang</cp:lastModifiedBy>
  <cp:revision>12</cp:revision>
  <dcterms:created xsi:type="dcterms:W3CDTF">2026-06-24T14:51:58Z</dcterms:created>
  <dcterms:modified xsi:type="dcterms:W3CDTF">2026-06-26T09:59:28Z</dcterms:modified>
</cp:coreProperties>
</file>